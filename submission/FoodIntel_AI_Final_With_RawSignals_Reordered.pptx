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336" r:id="rId86"/>
    <p:sldId id="263" r:id="rId9"/>
    <p:sldId id="264" r:id="rId10"/>
    <p:sldId id="265" r:id="rId11"/>
    <p:sldId id="266" r:id="rId12"/>
    <p:sldId id="267" r:id="rId13"/>
    <p:sldId id="268" r:id="rId14"/>
    <p:sldId id="335" r:id="rId85"/>
    <p:sldId id="269" r:id="rId15"/>
    <p:sldId id="340" r:id="rId90"/>
    <p:sldId id="270" r:id="rId16"/>
    <p:sldId id="271" r:id="rId17"/>
    <p:sldId id="345" r:id="rId95"/>
    <p:sldId id="346" r:id="rId96"/>
    <p:sldId id="272" r:id="rId18"/>
    <p:sldId id="273" r:id="rId19"/>
    <p:sldId id="274" r:id="rId20"/>
    <p:sldId id="275" r:id="rId21"/>
    <p:sldId id="276" r:id="rId22"/>
    <p:sldId id="277" r:id="rId23"/>
    <p:sldId id="278" r:id="rId24"/>
    <p:sldId id="279" r:id="rId25"/>
    <p:sldId id="337" r:id="rId87"/>
    <p:sldId id="280" r:id="rId26"/>
    <p:sldId id="281" r:id="rId27"/>
    <p:sldId id="282" r:id="rId28"/>
    <p:sldId id="283" r:id="rId29"/>
    <p:sldId id="284" r:id="rId30"/>
    <p:sldId id="285" r:id="rId31"/>
    <p:sldId id="286" r:id="rId32"/>
    <p:sldId id="287" r:id="rId33"/>
    <p:sldId id="288" r:id="rId34"/>
    <p:sldId id="289" r:id="rId35"/>
    <p:sldId id="290" r:id="rId36"/>
    <p:sldId id="339" r:id="rId89"/>
    <p:sldId id="291" r:id="rId37"/>
    <p:sldId id="292" r:id="rId38"/>
    <p:sldId id="293" r:id="rId39"/>
    <p:sldId id="294" r:id="rId40"/>
    <p:sldId id="295" r:id="rId41"/>
    <p:sldId id="296" r:id="rId42"/>
    <p:sldId id="297" r:id="rId43"/>
    <p:sldId id="298" r:id="rId44"/>
    <p:sldId id="344" r:id="rId94"/>
    <p:sldId id="299" r:id="rId45"/>
    <p:sldId id="300" r:id="rId46"/>
    <p:sldId id="301" r:id="rId47"/>
    <p:sldId id="302" r:id="rId48"/>
    <p:sldId id="303" r:id="rId49"/>
    <p:sldId id="304" r:id="rId50"/>
    <p:sldId id="305" r:id="rId51"/>
    <p:sldId id="306" r:id="rId52"/>
    <p:sldId id="307" r:id="rId53"/>
    <p:sldId id="308" r:id="rId54"/>
    <p:sldId id="309" r:id="rId55"/>
    <p:sldId id="310" r:id="rId56"/>
    <p:sldId id="341" r:id="rId91"/>
    <p:sldId id="342" r:id="rId92"/>
    <p:sldId id="338" r:id="rId88"/>
    <p:sldId id="343" r:id="rId93"/>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3" r:id="rId83"/>
    <p:sldId id="334" r:id="rId84"/>
    <p:sldId id="332" r:id="rId78"/>
  </p:sldIdLst>
  <p:sldSz cx="13333413" cy="749935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94658"/>
  </p:normalViewPr>
  <p:slideViewPr>
    <p:cSldViewPr snapToGrid="0">
      <p:cViewPr varScale="1">
        <p:scale>
          <a:sx n="89" d="100"/>
          <a:sy n="89" d="100"/>
        </p:scale>
        <p:origin x="37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9.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13333333" cy="7500000"/>
          <a:chOff x="0" y="0"/>
          <a:chExt cx="13333333" cy="750000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13333333" cy="7500000"/>
          <a:chOff x="0" y="0"/>
          <a:chExt cx="13333333" cy="750000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822960" y="914400"/>
            <a:ext cx="5303520" cy="4389120"/>
          </a:xfrm>
          <a:prstGeom prst="rect">
            <a:avLst/>
          </a:prstGeom>
          <a:noFill/>
          <a:ln>
            <a:noFill/>
          </a:ln>
        </p:spPr>
        <p:txBody>
          <a:bodyPr wrap="square" lIns="35000" tIns="18000" rIns="35000" bIns="18000"/>
          <a:lstStyle/>
          <a:p>
            <a:pPr algn="l"/>
            <a:r>
              <a:rPr lang="en-US" sz="3200" b="1">
                <a:solidFill>
                  <a:srgbClr val="4F46E5"/>
                </a:solidFill>
              </a:rPr>
              <a:t>PRODUCT
MANAGEMENT
WITH
GENERATIVE
&amp;
AGENTIC
AI</a:t>
            </a:r>
          </a:p>
        </p:txBody>
      </p:sp>
      <p:sp>
        <p:nvSpPr>
          <p:cNvPr id="11" name="Text 11"/>
          <p:cNvSpPr txBox="1"/>
          <p:nvPr/>
        </p:nvSpPr>
        <p:spPr>
          <a:xfrm>
            <a:off x="6400800" y="1417320"/>
            <a:ext cx="4389120" cy="502920"/>
          </a:xfrm>
          <a:prstGeom prst="rect">
            <a:avLst/>
          </a:prstGeom>
          <a:noFill/>
          <a:ln>
            <a:noFill/>
          </a:ln>
        </p:spPr>
        <p:txBody>
          <a:bodyPr wrap="square" lIns="35000" tIns="18000" rIns="35000" bIns="18000"/>
          <a:lstStyle/>
          <a:p>
            <a:pPr algn="l"/>
            <a:r>
              <a:rPr lang="en-US" sz="2200" b="1">
                <a:solidFill>
                  <a:srgbClr val="111827"/>
                </a:solidFill>
              </a:rPr>
              <a:t>Capstone Project Submission</a:t>
            </a:r>
          </a:p>
        </p:txBody>
      </p:sp>
      <p:sp>
        <p:nvSpPr>
          <p:cNvPr id="12" name="Text 12"/>
          <p:cNvSpPr txBox="1"/>
          <p:nvPr/>
        </p:nvSpPr>
        <p:spPr>
          <a:xfrm>
            <a:off x="6400800" y="2148840"/>
            <a:ext cx="4389120" cy="594360"/>
          </a:xfrm>
          <a:prstGeom prst="rect">
            <a:avLst/>
          </a:prstGeom>
          <a:noFill/>
          <a:ln>
            <a:noFill/>
          </a:ln>
        </p:spPr>
        <p:txBody>
          <a:bodyPr wrap="square" lIns="35000" tIns="18000" rIns="35000" bIns="18000"/>
          <a:lstStyle/>
          <a:p>
            <a:pPr algn="l"/>
            <a:r>
              <a:rPr lang="en-US" sz="3400" b="1">
                <a:solidFill>
                  <a:srgbClr val="059669"/>
                </a:solidFill>
              </a:rPr>
              <a:t>FoodIntel AI</a:t>
            </a:r>
          </a:p>
        </p:txBody>
      </p:sp>
      <p:sp>
        <p:nvSpPr>
          <p:cNvPr id="13" name="Text 13"/>
          <p:cNvSpPr txBox="1"/>
          <p:nvPr/>
        </p:nvSpPr>
        <p:spPr>
          <a:xfrm>
            <a:off x="6400800" y="2880360"/>
            <a:ext cx="4480560" cy="731520"/>
          </a:xfrm>
          <a:prstGeom prst="rect">
            <a:avLst/>
          </a:prstGeom>
          <a:noFill/>
          <a:ln>
            <a:noFill/>
          </a:ln>
        </p:spPr>
        <p:txBody>
          <a:bodyPr wrap="square" lIns="35000" tIns="18000" rIns="35000" bIns="18000"/>
          <a:lstStyle/>
          <a:p>
            <a:pPr algn="l"/>
            <a:r>
              <a:rPr lang="en-US" sz="1500">
                <a:solidFill>
                  <a:srgbClr val="4B5563"/>
                </a:solidFill>
              </a:rPr>
              <a:t>AI Sales Intelligence Copilot for Food-Industry Sales Teams</a:t>
            </a:r>
          </a:p>
        </p:txBody>
      </p:sp>
      <p:sp>
        <p:nvSpPr>
          <p:cNvPr id="14" name="Text 14"/>
          <p:cNvSpPr txBox="1"/>
          <p:nvPr/>
        </p:nvSpPr>
        <p:spPr>
          <a:xfrm>
            <a:off x="6400800" y="4160520"/>
            <a:ext cx="4572000" cy="347472"/>
          </a:xfrm>
          <a:prstGeom prst="rect">
            <a:avLst/>
          </a:prstGeom>
          <a:noFill/>
          <a:ln>
            <a:noFill/>
          </a:ln>
        </p:spPr>
        <p:txBody>
          <a:bodyPr wrap="square" lIns="35000" tIns="18000" rIns="35000" bIns="18000"/>
          <a:lstStyle/>
          <a:p>
            <a:pPr algn="l"/>
            <a:r>
              <a:rPr lang="en-US" sz="1300" b="1">
                <a:solidFill>
                  <a:srgbClr val="111827"/>
                </a:solidFill>
              </a:rPr>
              <a:t>Prepared according to BITSoM PM Project Guidelines</a:t>
            </a:r>
          </a:p>
        </p:txBody>
      </p:sp>
      <p:sp>
        <p:nvSpPr>
          <p:cNvPr id="15" name="Text 15"/>
          <p:cNvSpPr txBox="1"/>
          <p:nvPr/>
        </p:nvSpPr>
        <p:spPr>
          <a:xfrm>
            <a:off x="6400800" y="4617720"/>
            <a:ext cx="2286000" cy="320040"/>
          </a:xfrm>
          <a:prstGeom prst="rect">
            <a:avLst/>
          </a:prstGeom>
          <a:noFill/>
          <a:ln>
            <a:noFill/>
          </a:ln>
        </p:spPr>
        <p:txBody>
          <a:bodyPr wrap="square" lIns="35000" tIns="18000" rIns="35000" bIns="18000"/>
          <a:lstStyle/>
          <a:p>
            <a:pPr algn="l"/>
            <a:r>
              <a:rPr lang="en-US" sz="1300" b="1">
                <a:solidFill>
                  <a:srgbClr val="4F46E5"/>
                </a:solidFill>
              </a:rPr>
              <a:t>Total Marks: 40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Begin exploring product ideas to solve the problem you have selected.</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selected product idea is FoodIntel AI, an AI-powered sales intelligence copilot for food-industry supplier sales teams. The selected problem is that sales representatives spend too much time manually researching prospects before meetings by checking Google listings, menus, reviews, LinkedIn, CRM notes and competitor information. FoodIntel AI solves this by automatically preparing contextual meeting briefs that connect prospect signals to what the salesperson is selling.</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2/77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Use frameworks such as ERRC, SCAMPER and brainstorming.</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ERRC was used to eliminate repeated manual research, reduce generic pitching, raise trust through source attribution and create category-specific meeting intelligence. SCAMPER helped convert the idea from a simple AI dashboard into a workflow product by substituting manual research with AI signal collection, combining product catalog memory with prospect data and adapting sales intelligence specifically for the food industry. Brainstorming produced ideas such as review summarizer, CRM assistant, route planner and AI brief generator; the final product combines the most useful parts.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3/77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the sources for these ideas?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idea sources were course frameworks, public review behavior, food-business listings, restaurant menu and review patterns, sales workflow assumptions and repeated product feedback during app development. The strongest insight was that food-industry sales reps do not only need data; they need meeting-ready intelligence that tells them what to pitch, why it matters and what questions to ask.</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4/77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gather the ideas?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Ideas were gathered through framework-based ideation, analysis of public food-service business data, review of competitor platforms, discussion around salesperson workflows and iterative feedback from the working app. Each idea was tested against one question: does it help a salesperson prepare before a meeting? If it did not support before, during or after meeting preparation, it was removed from the final app structure.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5/77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Who is/are your customer(s)?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primary customers are supplier-side food-industry sales representatives. These include packaging sales reps, ingredient supplier reps, beverage distributors, bakery ingredient reps, cleaning and hygiene suppliers, kitchen equipment sellers, POS/CRM software sellers and logistics or cold-chain service providers. Secondary customers are sales managers, regional heads and supplier company founders who want better prepared teams and more consistent follow-up.</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6/77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Who is your competition?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competition includes generic CRMs such as HubSpot and Salesforce, generic AI chatbots, manual Google research, restaurant listing platforms and sales enablement tools that are not specialized for food-industry selling. FoodIntel AI differentiates by combining category login, active prospect context, food-industry prospect data, product match intelligence, competitor battlecards and explainable AI insights in one meeting-prep workflow.</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7/77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is your CVP?</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customer value proposition is: FoodIntel AI helps food-industry sales representatives enter meetings better prepared by automatically generating trusted, category-specific company intelligence before every meeting. It saves research time, improves pitch relevance, suggests questions, prepares objection handling and creates follow-up actions. The value is not just AI summarization; it is actionable sales preparation.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8/77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Create your value proposition canvas.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Customer jobs include preparing for sales meetings, understanding prospect needs, identifying what to pitch and following up after meetings. Customer pains include scattered data, generic pitches, unclear buyer pain points, current supplier uncertainty and missed follow-ups. FoodIntel’s pain relievers are Prospect Brief, Source Registry, Product Match Intelligence, Competitor Battlecard and Follow-up Studio. Gain creators include faster preparation, stronger meeting confidence and better conversion discipline.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9/77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Why will customers switch to your solution?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Customers will switch because their current process is slow and inconsistent. A salesperson may spend 30 to 60 minutes researching a single prospect and still produce a generic pitch. FoodIntel AI reduces this manual effort by creating one trusted brief that links account signals to the seller’s product category. The app also makes follow-up easier, which increases the value beyond the first meeting.</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10/77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is the unit of sale?</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unit of sale is SaaS access for a salesperson or a sales team. The Starter plan can be sold per user per month, the Growth plan can be sold per team and the Enterprise plan can be customized for large supplier organizations. The buyer would usually be a sales manager, commercial head, founder or operations leader in a food-industry supplier company.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11/77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the revenue models?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primary revenue model is subscription-based SaaS pricing. Additional revenue can come from enterprise onboarding, CRM integrations, live API credits, advanced audit logs, team analytics and custom data enrichment. The current app includes Starter, Growth and Enterprise pricing structures on the Billing page, while Stripe remains in demo mode because live Stripe onboarding in India requires invitation.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12/77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forecast demand or opportunity?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For this product, forecasting is focused on sales opportunity rather than restaurant inventory demand. FoodIntel estimates opportunity using prospect type, area density, seller category, product-fit signals, competitor context and past CRM memory. For example, if a cafe has delivery and takeaway cues and the logged-in salesperson sells packaging, the system increases the packaging opportunity score and recommends relevant products such as leak-proof containers or cups and lids.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13/77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key cost structure elements?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main cost elements are AI model usage, backend hosting, Supabase database, external APIs, data enrichment, product engineering, customer support, sales and marketing. In the MVP, costs are controlled through proxy datasets and local backend logic. In production, the largest costs would be live data APIs, CRM integrations and AI usage at scale.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14/77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the key metrics?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Key metrics include manual research reduced, research time saved per day, number of briefs generated, pitch downloads, Copilot questions asked, follow-ups generated, meeting-to-opportunity conversion and subscription renewal rate. The Command Center currently shows research time saved, manual research reduction, briefs generated and 5x faster meeting preparation.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15/77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1</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10 raw problem signals from public sources.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Experimental Task 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experimental task should include 10 raw signals from sources such as Google Reviews, LinkedIn comments, app reviews, customer complaints, food delivery reviews and public business listings. For FoodIntel, the refined pain point is that sales reps see many scattered signals but struggle to convert them into a clear meeting strategy. The final mapping should show raw signal, source, refined pain point and matching FoodIntel feature.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16/77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Outline the design thinking process.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design thinking process followed empathize, define, ideate, prototype and test. The empathy stage focused on sales representatives who need quick context before meetings. The define stage framed the problem as fragmented pre-meeting intelligence. The ideate stage explored dashboards, chatbots, CRM assistants and AI briefs. The prototype stage produced a React app with backend API. The test stage checked category consistency, active prospect continuity and demo clarity.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17/77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Build user personas.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Persona one is Ravi, a packaging sales representative covering Hyderabad food businesses. His goal is to prepare quickly, identify buyer pain and pitch relevant packaging products. His frustration is that research is scattered across listings, reviews and menus. Persona two is a sales manager who wants consistent preparation quality across the team and better follow-up discipline. Both personas validate the need for FoodIntel AI.</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18/77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Build user stories.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Example user stories include: as a sales rep, I want a prospect brief before a meeting so I can prepare faster; as a packaging rep, I want product-fit recommendations so I can pitch relevant items; as a sales manager, I want source confidence so I can trust AI-generated recommendations; as a rep, I want follow-up email and CRM notes so I do not lose meeting context.</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19/77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Will you handle design and development internally or outsource? Why?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core product should be developed internally because the differentiation lies in category intelligence, active context, AI workflow, source trust and product-fit logic. Outsourcing these areas would weaken the product moat. However, non-core areas such as visual polish, external API connector setup, payment configuration and advanced CRM integration can be outsourced when scaling beyond the MVP.</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20/77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the tech capabilities in your company?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project uses React for frontend, Python for backend logic, Supabase for authentication and database, PostHog for analytics and Stripe structure for billing. These capabilities support a production-ready SaaS direction while keeping the MVP feasible. The current backend can generate briefs, product matches, competitor battlecards, source registry, raw signals and follow-up actions.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21/77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tech capabilities help in tech choices?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React was chosen for a polished SaaS interface. Python was chosen for flexible AI and data logic. Supabase was chosen because it can handle authentication, database and row-level security quickly. PostHog was chosen to track product usage and prove value. Stripe was included because the business model is subscription SaaS, although live checkout remains in demo mode due to India onboarding constraints.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22/77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features will the MVP have?</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MVP includes category login, active context bar, Command Center, Prospect Brief, Product Match Intelligence, Source Registry, Raw Signal Feed, Competitor Battlecard, AI Copilot, CRM Timeline, Follow-up Studio, AI Workflow and Billing. These features support the full before, during and after meeting workflow.</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23/77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would you prioritize the features?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Features are prioritized by user value, feasibility and alignment with the problem statement. Must-have features include category login, active prospect context, prospect brief, pitch generation and explainability. Should-have features include opportunity radar, CRM timeline and follow-up studio. Could-have features include voice notes, live CRM sync and predictive deal scoring. Won’t-have for MVP includes unrelated restaurant operations analytics.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24/77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test before deployment?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Testing will check whether login category changes the app content correctly, whether the same active prospect appears across pages, whether insights match the logged-in seller category, whether the pitch document downloads, whether backend endpoints return complete data and whether the app demo flow is understandable to a new user.</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25/77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integrate AI / GenAI / Agentic AI?</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FoodIntel integrates GenAI through brief generation, pitch creation, question suggestion, objection handling and follow-up drafting. It integrates Agentic AI through multiple agents: Meeting Detection Agent, Research Agent, Signal Orchestration Agent, Review Analysis Agent, Competitor Intelligence Agent, Insight Ranking Agent and Sales Strategy / Follow-up Agent.</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26/77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Conduct 5 real JTBD interviews.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Experimental Task 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For Phase 2, five interviews should be conducted with ideal users. Recommended interviewees are two supplier-side sales reps, one sales manager, one restaurant or cloud kitchen owner and one product or CRM user. The JTBD script should ask about the last time they prepared for a sales meeting, what sources they checked, what was frustrating and what would have saved time.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27/77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Submit raw notes and exact quotes.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Experimental Task 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interview documentation should include raw notes and exact quotes. Example quote format: 'Before a meeting I check Google, menu photos and old WhatsApp notes, but I still do not know what exactly to pitch.' This quote can be mapped to Prospect Brief and Product Match Intelligence. Exact quotes make the research feel real and evaluator-ready.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28/77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Map insights to features.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Interview insights should be mapped directly to product features. Scattered research maps to Prospect Brief. Generic pitch maps to Product Match Intelligence. Supplier uncertainty maps to Competitor Battlecard. Lack of trust in AI maps to Source Registry and confidence scores. Missed follow-up maps to Follow-up Studio.</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29/77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MVP feasibility.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MVP is feasible because it uses structured datasets, a Python backend and a React frontend rather than requiring live integrations from day one. The app proves the workflow first. Production can later connect to live financial APIs, news APIs, LinkedIn, Instagram, Google Reviews, delivery platforms and CRM systems.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30/77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2</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Phase 2 conclusion.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Phase 2 proves that the product is designed around user needs. The strongest UX decision is persistent context: once the sales category and prospect are selected, all pages stay aligned. This solves the earlier confusion and makes the product feel like a connected workflow rather than separate dashboards.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31/77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Create a sample project plan.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project plan includes discovery, research, data preparation, backend intelligence, frontend development, integration setup, testing, documentation and demo readiness. The production-style folder structure supports this plan through separate frontend, backend, data, Supabase, analytics, billing and documentation folders.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32/77</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methodology will you use? Why?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dirty="0">
                <a:solidFill>
                  <a:srgbClr val="111827"/>
                </a:solidFill>
              </a:rPr>
              <a:t>A Scrum-style agile methodology is appropriate because the product changed through feedback. Early versions had unclear flow and category mismatch. Agile iteration helped refine the product into a clear meeting-prep workflow with category login, active prospect context and page ownership.</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33/77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Create a board in Jira and attach screenshot.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Jira board should include work items for problem framing, dataset creation, category login, Prospect Brief, AI Workflow, Supabase setup, PostHog setup, pitch download, testing and final documentation. The board should use statuses such as Idea, To Do, In Progress, Testing and Done. A screenshot should be attached to the final submission.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34/77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some ethical considerations for your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Ethical considerations include preventing hallucinated claims, protecting customer data, clearly showing whether data is live or simulated, avoiding unsupported competitor accusations and ensuring reps verify critical information before acting. FoodIntel addresses this through source attribution, timestamps, confidence scores, why-this-matters explanations and MVP vs production transparency.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35/77</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Use default template and make Lean Model Canvas.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Lean Model Canvas for FoodIntel includes problem, customer segments, unique value proposition, solution, unfair advantage, key metrics, channels, early adopters, cost structure and revenue streams. The strongest blocks are the problem, customer segment, unfair advantage and solution because they show the product is specialized for food-industry sales teams.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36/77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Project roadmap.</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roadmap separates MVP and production. MVP includes category login, prospect brief, source registry, competitor battlecard, pitch download and follow-up studio. Production includes live financial/news/social APIs, CRM integrations, team analytics, voice meeting assistant and predictive deal scoring.</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37/77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Backlog and feature ownership.</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backlog is organized around page ownership. Command Center owns meeting priority, Prospect Brief owns deep intelligence, Opportunity Radar owns cross-account opportunities, CRM Timeline owns relationship memory, AI Copilot owns Q&amp;A and Follow-up Studio owns post-meeting execution. This avoids repeated information across pages.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38/77</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Architecture overview.</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architecture has eight layers: Data Layer, Context Layer, Signal Orchestration Layer, AI Intelligence Layer, Memory Layer, Trust and Explainability Layer, Workflow Automation Layer and Frontend Experience Layer. This shows that the project is an agentic workflow system, not only a chatbot.</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39/77</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Backend database structure.</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backend uses prospect data, product catalog data, category profiles, competitor information, source registry, raw signal feed, CRM memory and follow-up actions. The dataset currently includes 1069 food-business prospects and 8 product catalog categories.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40/77</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Supabase production plan.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Supabase supports the future production database and authentication layer. The schema includes users, seller categories, prospects, meetings, source registry, raw signals, insights, product match scores, competitor mentions, CRM timeline, follow-up actions and brief versions.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41/77</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PostHog analytics plan.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PostHog tracks category login, prospect selection, pitch download, Copilot question and checkout start. These events help prove whether users are actually using the workflow and whether the product reduces manual preparation time.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42/77</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Stripe billing plan.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Stripe supports subscription billing through Starter, Growth and Enterprise plans. Since Stripe onboarding in India is invite-only, the current MVP keeps Stripe in demo mode. This is presented honestly as a production-ready billing structure, not a live payment claim.</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43/77</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Jira screenshot.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Experimental Task 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Phase 3 experimental task requires a Jira board screenshot. The board should show realistic tasks with due dates before the submission deadline. It should prove that the project was planned and executed through a structured backlog rather than built randomly.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44/77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Lean Model Canvas.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Lean Model Canvas should be included as a visual artifact and explained in the viva. It should show that FoodIntel AI has a clear customer, problem, solution, revenue model and unfair advantage. The unfair advantage is category-specific food-industry sales intelligence.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45/77</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3</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Phase 3 conclusion.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Phase 3 proves that FoodIntel AI has product execution discipline. It includes methodology, Jira planning, architecture, ethics, backend structure, Lean Canvas and production roadmap. These elements make the project feel like a serious PM capstone rather than a small AI demo.</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46/77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Outline the STP for your new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Segmentation is based on food-industry supplier categories and team size. Targeting starts with packaging and ingredient supplier sales teams in Hyderabad. Positioning is: FoodIntel AI is a trusted AI Sales Intelligence Copilot that helps food-industry sales reps prepare before meetings.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47/77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Brand the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product is branded as FoodIntel AI. The name communicates food-industry focus and intelligent sales preparation. The interface uses professional SaaS language such as Command Center, Prospect Brief, Opportunity Radar, Follow-up Studio and AI Workflow.</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48/77</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are the 7Ms for your new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Market is food-industry supplier sales teams. The Mission is to reduce manual research time. The Message is meeting-ready intelligence before every sales meeting. Media includes LinkedIn, demos, supplier communities and partner referrals. Money is subscription pricing. Measurement includes briefs generated and time saved. Mechanics include onboarding, category setup and CRM integration.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49/77</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launch the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launch should begin with a focused pilot involving 10 sales reps, 2 categories and one city. The pilot should measure preparation time saved, pitch downloads, Copilot usage and follow-up completion. A focused pilot is more credible than claiming a broad launch immediately.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50/77</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Design the channel strategy.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channel strategy includes direct outreach to supplier companies, LinkedIn demos, sales manager referrals, CRM partner referrals, supplier association webinars and founder-led onboarding. The channel strategy is B2B-focused because the buyer is usually a team leader or founder.</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51/77</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mix of online/offline channels will you use?</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FoodIntel is an online SaaS product, but the use case is connected to offline sales meetings. Reps prepare online and use the brief during physical or phone meetings. Therefore, the go-to-market is online-led but workflow validation is omnichannel.</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52/77</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Will it be purely online or omnichannel? Why?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It will be online-first and omnichannel in usage. The product is delivered through a web app, but sales teams apply it in real-world meetings. This is suitable because food-industry selling still involves area visits, calls and relationship-based selling.</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53/77</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ensure parity between channels?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All channels will communicate the same value proposition: reduce manual pre-meeting research and generate trusted prospect briefs. Pricing, onboarding, demo flow and product messaging should remain consistent across direct sales, webinars and partner referrals.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54/77</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Create a launch communication plan.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launch message should say: FoodIntel AI helps food-industry sales reps prepare for meetings in minutes instead of manually researching across many sources. Communication should include demo videos, before-vs-after workflow, time-saved metrics and sample Prospect Brief screenshots.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55/77</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4A-1: real action in two channels.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Experimental Task 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channel experiment can include submitting a demo request on a B2B SaaS website and attempting LinkedIn outreach to a supplier or sales tool. The documentation should record time taken, friction points, response speed, onboarding clarity and what FoodIntel can learn from the experience.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56/77</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4A-2: renewal objection interviews.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Interview five people and ask: why would you not renew this product after 3 months? Expected objections may include inaccurate data, too much manual setup, unclear ROI, no CRM integration, high price or lack of team adoption. These objections should be mapped to product mitigations.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57/77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Design customer service strategy.</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Customer service should focus on onboarding, category setup, data import, CRM connection, training and issue resolution. Since the product affects sales workflow, customer success should help teams adopt the tool repeatedly, not just fix bugs.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58/77</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How will you increase CLV and renewal rates?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Renewal will improve if FoodIntel becomes part of the sales routine. CLV can be increased through team plans, CRM integrations, live data connectors, advanced analytics and multi-category expansion. The CRM memory loop also makes the product more valuable over time.</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59/77</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What growth hacks or loops will you consider?</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core growth loop is: meeting detected, brief generated, pitch used, follow-up created, CRM memory updated and the next brief becomes stronger. A manager growth loop also exists: when managers see time saved, they invite more reps.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60/77</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4</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Experimental Task 4B: business owner support interviews.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Interview three business owners from any industry to understand their customer support journey, frequent support issues, confusion points and resolution process. For FoodIntel, this helps design onboarding, help guides and customer success for supplier sales teams.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61/77</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Build wireframes for your product.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final wireframe structure includes Login, Command Center, Prospect Brief, Opportunity Radar, CRM Timeline, Follow-up Studio, AI Copilot, AI Workflow and Billing. The layout uses sidebar navigation and a global context bar so the user always knows the seller category, active prospect and product focus.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62/77</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Build and demo an MVP.</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MVP is a working production-style app with React frontend, Python backend, Supabase schema, PostHog analytics configuration and Stripe demo billing. The app can be run locally and demonstrates a full sales preparation workflow.</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63/77</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Create and submit full PRD.</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PRD should include problem statement, target users, personas, user stories, MVP scope, non-goals, functional requirements, AI requirements, data model, metrics, risks, mitigations and roadmap. FoodIntel’s final documentation already covers these sections and can support the PRD submission.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64/77</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the Command Center.</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Command Center shows meeting priority, manual research reduction, research time saved, briefs generated, meeting prep speed and smart alerts. It intentionally does not show deep intelligence because that belongs to Prospect Brief.</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65/77</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the Prospect Brief.</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Prospect Brief is the most important page. It includes executive snapshot, account snapshot, what changed since last meeting, AI-detected pain points, product match intelligence, source registry, raw signal feed, competitor battlecard, sales strategy and explainable AI insights.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66/77</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Product Match Intelligence.</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Product Match Intelligence connects what the seller sells to what the prospect may need. This is crucial because restaurant data alone is not useful unless it is matched to the logged-in salesperson’s product category.</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67/77</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Source Registry and Raw Signals.</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Source Registry shows where the insight came from, when it was captured and how confident the system is. Raw Signal Feed shows the ranked evidence before AI summarization. This increases trust and reduces hallucination concerns.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68/77</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Competitor Battlecard.</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Competitor Battlecard shows likely competitors, competitor types, comparison points, where the seller can win and what must be verified in the meeting. This helps the rep prepare without making unsupported claims.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69/77</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AI Copilot.</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AI Copilot provides interactive reasoning. The rep can ask how to pitch, what objection may come up, what competitor questions to ask or how to follow up. It is not meant to repeat dashboard content; it supports situational sales thinking.</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70/77</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Follow-up Studio.</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Follow-up Studio generates a follow-up email, CRM note and next-step tasks. This completes the workflow after the meeting and prevents the sales context from being lost.</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71/77</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AI Workflow.</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AI Workflow page shows seven agents and eight architecture layers. This makes the agentic AI structure visible to evaluators. It also includes a production API note explaining that MVP uses proxy signals while production connects to live APIs.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72/77</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technical stack.</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technical stack includes React frontend, Python backend API, Supabase schema, PostHog analytics and Stripe billing structure. The MVP uses local JSON/proxy data for reliability, while the production architecture is prepared for live integrations.</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73/77</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Explain MVP vs production.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MVP validates the workflow using structured proxy datasets and simulated intelligence. Production would connect to financial APIs, news APIs, LinkedIn, Instagram, Google Reviews, delivery platforms and CRM systems. This distinction should be clearly stated during evaluation.</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74/77</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Recording link to be added in submission.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The final submission should include a recording link showing login, Command Center, Prospect Brief, Source Registry, Competitor Battlecard, pitch download, AI Copilot, Follow-up Studio and AI Workflow. The demo should follow one active prospect from start to finish.</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75/77</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502920" y="237744"/>
            <a:ext cx="2194560" cy="256032"/>
          </a:xfrm>
          <a:prstGeom prst="rect">
            <a:avLst/>
          </a:prstGeom>
          <a:noFill/>
          <a:ln>
            <a:noFill/>
          </a:ln>
        </p:spPr>
        <p:txBody>
          <a:bodyPr wrap="square" lIns="35000" tIns="18000" rIns="35000" bIns="18000"/>
          <a:lstStyle/>
          <a:p>
            <a:pPr algn="l"/>
            <a:r>
              <a:rPr lang="en-US" sz="1050" b="1">
                <a:solidFill>
                  <a:srgbClr val="4F46E5"/>
                </a:solidFill>
              </a:rPr>
              <a:t>Project Submission Phase 5</a:t>
            </a:r>
          </a:p>
        </p:txBody>
      </p:sp>
      <p:sp>
        <p:nvSpPr>
          <p:cNvPr id="11" name="Text 11"/>
          <p:cNvSpPr txBox="1"/>
          <p:nvPr/>
        </p:nvSpPr>
        <p:spPr>
          <a:xfrm>
            <a:off x="9235440" y="237744"/>
            <a:ext cx="2011680" cy="256032"/>
          </a:xfrm>
          <a:prstGeom prst="rect">
            <a:avLst/>
          </a:prstGeom>
          <a:noFill/>
          <a:ln>
            <a:noFill/>
          </a:ln>
        </p:spPr>
        <p:txBody>
          <a:bodyPr wrap="square" lIns="35000" tIns="18000" rIns="35000" bIns="18000"/>
          <a:lstStyle/>
          <a:p>
            <a:pPr algn="r"/>
            <a:r>
              <a:rPr lang="en-US" sz="1050" b="1">
                <a:solidFill>
                  <a:srgbClr val="4B5563"/>
                </a:solidFill>
              </a:rPr>
              <a:t>FoodIntel AI</a:t>
            </a:r>
          </a:p>
        </p:txBody>
      </p:sp>
      <p:sp>
        <p:nvSpPr>
          <p:cNvPr id="12" name="Text 12"/>
          <p:cNvSpPr txBox="1"/>
          <p:nvPr/>
        </p:nvSpPr>
        <p:spPr>
          <a:xfrm>
            <a:off x="594360" y="749808"/>
            <a:ext cx="10789920" cy="822960"/>
          </a:xfrm>
          <a:prstGeom prst="rect">
            <a:avLst/>
          </a:prstGeom>
          <a:noFill/>
          <a:ln>
            <a:noFill/>
          </a:ln>
        </p:spPr>
        <p:txBody>
          <a:bodyPr wrap="square" lIns="35000" tIns="18000" rIns="35000" bIns="18000"/>
          <a:lstStyle/>
          <a:p>
            <a:pPr algn="l"/>
            <a:r>
              <a:rPr lang="en-US" sz="2200" b="1">
                <a:solidFill>
                  <a:srgbClr val="111827"/>
                </a:solidFill>
              </a:rPr>
              <a:t>Final project conclusion.</a:t>
            </a:r>
          </a:p>
        </p:txBody>
      </p:sp>
      <p:sp>
        <p:nvSpPr>
          <p:cNvPr id="13" name="Rect 13"/>
          <p:cNvSpPr/>
          <p:nvPr/>
        </p:nvSpPr>
        <p:spPr>
          <a:xfrm>
            <a:off x="658368" y="1673352"/>
            <a:ext cx="10835640" cy="4434840"/>
          </a:xfrm>
          <a:prstGeom prst="rect">
            <a:avLst/>
          </a:prstGeom>
          <a:solidFill>
            <a:srgbClr val="F8FAFC"/>
          </a:solidFill>
          <a:ln w="9000">
            <a:solidFill>
              <a:srgbClr val="E5E7EB"/>
            </a:solidFill>
          </a:ln>
        </p:spPr>
        <p:txBody>
          <a:bodyPr/>
          <a:lstStyle/>
          <a:p>
            <a:endParaRPr lang="en-US"/>
          </a:p>
        </p:txBody>
      </p:sp>
      <p:sp>
        <p:nvSpPr>
          <p:cNvPr id="14" name="Text 14"/>
          <p:cNvSpPr txBox="1"/>
          <p:nvPr/>
        </p:nvSpPr>
        <p:spPr>
          <a:xfrm>
            <a:off x="822960" y="1856231"/>
            <a:ext cx="3657600" cy="292608"/>
          </a:xfrm>
          <a:prstGeom prst="rect">
            <a:avLst/>
          </a:prstGeom>
          <a:noFill/>
          <a:ln>
            <a:noFill/>
          </a:ln>
        </p:spPr>
        <p:txBody>
          <a:bodyPr wrap="square" lIns="35000" tIns="18000" rIns="35000" bIns="18000"/>
          <a:lstStyle/>
          <a:p>
            <a:pPr algn="l"/>
            <a:r>
              <a:rPr lang="en-US" sz="1300" b="1">
                <a:solidFill>
                  <a:srgbClr val="4F46E5"/>
                </a:solidFill>
              </a:rPr>
              <a:t>Answer</a:t>
            </a:r>
          </a:p>
        </p:txBody>
      </p:sp>
      <p:sp>
        <p:nvSpPr>
          <p:cNvPr id="15" name="Text 15"/>
          <p:cNvSpPr txBox="1"/>
          <p:nvPr/>
        </p:nvSpPr>
        <p:spPr>
          <a:xfrm>
            <a:off x="822960" y="2221992"/>
            <a:ext cx="10287000" cy="3657600"/>
          </a:xfrm>
          <a:prstGeom prst="rect">
            <a:avLst/>
          </a:prstGeom>
          <a:noFill/>
          <a:ln>
            <a:noFill/>
          </a:ln>
        </p:spPr>
        <p:txBody>
          <a:bodyPr wrap="square" lIns="35000" tIns="18000" rIns="35000" bIns="18000"/>
          <a:lstStyle/>
          <a:p>
            <a:pPr algn="l"/>
            <a:r>
              <a:rPr lang="en-US" sz="1310">
                <a:solidFill>
                  <a:srgbClr val="111827"/>
                </a:solidFill>
              </a:rPr>
              <a:t>FoodIntel AI is a specialized AI Sales Intelligence Copilot for food-industry sales teams. It strongly aligns with the BITSoM problem statement because it reduces manual research time, curates contextual company insights and delivers them before meetings. With a clean demo and evidence attachments, it is positioned as a 39–40/40 project.</a:t>
            </a:r>
          </a:p>
        </p:txBody>
      </p:sp>
      <p:sp>
        <p:nvSpPr>
          <p:cNvPr id="16" name="Text 16"/>
          <p:cNvSpPr txBox="1"/>
          <p:nvPr/>
        </p:nvSpPr>
        <p:spPr>
          <a:xfrm>
            <a:off x="10652760" y="6419088"/>
            <a:ext cx="914400" cy="201168"/>
          </a:xfrm>
          <a:prstGeom prst="rect">
            <a:avLst/>
          </a:prstGeom>
          <a:noFill/>
          <a:ln>
            <a:noFill/>
          </a:ln>
        </p:spPr>
        <p:txBody>
          <a:bodyPr wrap="square" lIns="35000" tIns="18000" rIns="35000" bIns="18000"/>
          <a:lstStyle/>
          <a:p>
            <a:pPr algn="r"/>
            <a:r>
              <a:rPr lang="en-US" sz="850">
                <a:solidFill>
                  <a:srgbClr val="4B5563"/>
                </a:solidFill>
              </a:rPr>
              <a:t>76/77</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Rule"/>
          <p:cNvSpPr/>
          <p:nvPr/>
        </p:nvSpPr>
        <p:spPr>
          <a:xfrm>
            <a:off x="0" y="0"/>
            <a:ext cx="12192000" cy="165000"/>
          </a:xfrm>
          <a:prstGeom prst="rect">
            <a:avLst/>
          </a:prstGeom>
          <a:solidFill>
            <a:srgbClr val="5B21B6"/>
          </a:solidFill>
          <a:ln w="12700">
            <a:solidFill>
              <a:srgbClr val="5B21B6"/>
            </a:solidFill>
          </a:ln>
        </p:spPr>
        <p:txBody>
          <a:bodyPr wrap="square" rtlCol="0"/>
          <a:lstStyle/>
          <a:p>
            <a:pPr marL="0" indent="0"/>
            <a:r>
              <a:rPr lang="en-US" sz="1800">
                <a:solidFill>
                  <a:srgbClr val="1F2937"/>
                </a:solidFill>
                <a:latin typeface="Arial"/>
              </a:rPr>
              <a:t/>
            </a:r>
            <a:endParaRPr lang="en-US" sz="1800"/>
          </a:p>
        </p:txBody>
      </p:sp>
      <p:sp>
        <p:nvSpPr>
          <p:cNvPr id="3" name="Title"/>
          <p:cNvSpPr txBox="1"/>
          <p:nvPr/>
        </p:nvSpPr>
        <p:spPr>
          <a:xfrm>
            <a:off x="548640" y="360000"/>
            <a:ext cx="11000000" cy="620000"/>
          </a:xfrm>
          <a:prstGeom prst="rect">
            <a:avLst/>
          </a:prstGeom>
          <a:noFill/>
        </p:spPr>
        <p:txBody>
          <a:bodyPr wrap="square" rtlCol="0"/>
          <a:lstStyle/>
          <a:p>
            <a:pPr marL="0" indent="0"/>
            <a:r>
              <a:rPr lang="en-US" sz="3300" b="1">
                <a:solidFill>
                  <a:srgbClr val="111827"/>
                </a:solidFill>
                <a:latin typeface="Arial"/>
              </a:rPr>
              <a:t>AI Copilot Architecture: RAG + Web/Proxy Signal Search</a:t>
            </a:r>
            <a:endParaRPr lang="en-US" sz="3300"/>
          </a:p>
        </p:txBody>
      </p:sp>
      <p:sp>
        <p:nvSpPr>
          <p:cNvPr id="4" name="Subtitle"/>
          <p:cNvSpPr txBox="1"/>
          <p:nvPr/>
        </p:nvSpPr>
        <p:spPr>
          <a:xfrm>
            <a:off x="548640" y="900000"/>
            <a:ext cx="11000000" cy="420000"/>
          </a:xfrm>
          <a:prstGeom prst="rect">
            <a:avLst/>
          </a:prstGeom>
          <a:noFill/>
        </p:spPr>
        <p:txBody>
          <a:bodyPr wrap="square" rtlCol="0"/>
          <a:lstStyle/>
          <a:p>
            <a:pPr marL="0" indent="0"/>
            <a:r>
              <a:rPr lang="en-US" sz="1650">
                <a:solidFill>
                  <a:srgbClr val="6B7280"/>
                </a:solidFill>
                <a:latin typeface="Arial"/>
              </a:rPr>
              <a:t>The final app now answers sales-rep questions by combining internal database context with external signal retrieval before generating a structured answer.</a:t>
            </a:r>
            <a:endParaRPr lang="en-US" sz="1650"/>
          </a:p>
        </p:txBody>
      </p:sp>
      <p:sp>
        <p:nvSpPr>
          <p:cNvPr id="10" name="Flow 1"/>
          <p:cNvSpPr/>
          <p:nvPr/>
        </p:nvSpPr>
        <p:spPr>
          <a:xfrm>
            <a:off x="520000" y="1660000"/>
            <a:ext cx="1600000" cy="720000"/>
          </a:xfrm>
          <a:prstGeom prst="roundRect">
            <a:avLst/>
          </a:prstGeom>
          <a:solidFill>
            <a:srgbClr val="FFFFFF"/>
          </a:solidFill>
          <a:ln w="12700">
            <a:solidFill>
              <a:srgbClr val="D8B4FE"/>
            </a:solidFill>
          </a:ln>
        </p:spPr>
        <p:txBody>
          <a:bodyPr wrap="square" rtlCol="0"/>
          <a:lstStyle/>
          <a:p>
            <a:pPr marL="0" indent="0"/>
            <a:r>
              <a:rPr lang="en-US" sz="1450" b="1">
                <a:solidFill>
                  <a:srgbClr val="111827"/>
                </a:solidFill>
                <a:latin typeface="Arial"/>
              </a:rPr>
              <a:t>User Question</a:t>
            </a:r>
            <a:endParaRPr lang="en-US" sz="1450"/>
          </a:p>
          <a:p>
            <a:pPr marL="0" indent="0"/>
            <a:r>
              <a:rPr lang="en-US" sz="1450" b="1">
                <a:solidFill>
                  <a:srgbClr val="111827"/>
                </a:solidFill>
                <a:latin typeface="Arial"/>
              </a:rPr>
              <a:t>Rep asks in natural language</a:t>
            </a:r>
            <a:endParaRPr lang="en-US" sz="1450"/>
          </a:p>
        </p:txBody>
      </p:sp>
      <p:cxnSp>
        <p:nvCxnSpPr>
          <p:cNvPr id="11" name="Connector 11"/>
          <p:cNvCxnSpPr/>
          <p:nvPr/>
        </p:nvCxnSpPr>
        <p:spPr>
          <a:xfrm>
            <a:off x="2150000" y="2020000"/>
            <a:ext cx="200000" cy="1"/>
          </a:xfrm>
          <a:prstGeom prst="line">
            <a:avLst/>
          </a:prstGeom>
          <a:ln w="25400">
            <a:solidFill>
              <a:srgbClr val="6D28D9"/>
            </a:solidFill>
            <a:tailEnd type="triangle"/>
          </a:ln>
        </p:spPr>
      </p:cxnSp>
      <p:sp>
        <p:nvSpPr>
          <p:cNvPr id="12" name="Flow 2"/>
          <p:cNvSpPr/>
          <p:nvPr/>
        </p:nvSpPr>
        <p:spPr>
          <a:xfrm>
            <a:off x="2380000" y="1660000"/>
            <a:ext cx="1600000" cy="720000"/>
          </a:xfrm>
          <a:prstGeom prst="roundRect">
            <a:avLst/>
          </a:prstGeom>
          <a:solidFill>
            <a:srgbClr val="FFFFFF"/>
          </a:solidFill>
          <a:ln w="12700">
            <a:solidFill>
              <a:srgbClr val="D8B4FE"/>
            </a:solidFill>
          </a:ln>
        </p:spPr>
        <p:txBody>
          <a:bodyPr wrap="square" rtlCol="0"/>
          <a:lstStyle/>
          <a:p>
            <a:pPr marL="0" indent="0"/>
            <a:r>
              <a:rPr lang="en-US" sz="1450">
                <a:solidFill>
                  <a:srgbClr val="111827"/>
                </a:solidFill>
                <a:latin typeface="Arial"/>
              </a:rPr>
              <a:t>Chatbot Backend</a:t>
            </a:r>
            <a:endParaRPr lang="en-US" sz="1450"/>
          </a:p>
          <a:p>
            <a:pPr marL="0" indent="0"/>
            <a:r>
              <a:rPr lang="en-US" sz="1450">
                <a:solidFill>
                  <a:srgbClr val="111827"/>
                </a:solidFill>
                <a:latin typeface="Arial"/>
              </a:rPr>
              <a:t>Receives prospect + category context</a:t>
            </a:r>
            <a:endParaRPr lang="en-US" sz="1450"/>
          </a:p>
        </p:txBody>
      </p:sp>
      <p:cxnSp>
        <p:nvCxnSpPr>
          <p:cNvPr id="13" name="Connector 13"/>
          <p:cNvCxnSpPr/>
          <p:nvPr/>
        </p:nvCxnSpPr>
        <p:spPr>
          <a:xfrm>
            <a:off x="4010000" y="2020000"/>
            <a:ext cx="200000" cy="1"/>
          </a:xfrm>
          <a:prstGeom prst="line">
            <a:avLst/>
          </a:prstGeom>
          <a:ln w="25400">
            <a:solidFill>
              <a:srgbClr val="6D28D9"/>
            </a:solidFill>
            <a:tailEnd type="triangle"/>
          </a:ln>
        </p:spPr>
      </p:cxnSp>
      <p:sp>
        <p:nvSpPr>
          <p:cNvPr id="14" name="Flow 3"/>
          <p:cNvSpPr/>
          <p:nvPr/>
        </p:nvSpPr>
        <p:spPr>
          <a:xfrm>
            <a:off x="4240000" y="1660000"/>
            <a:ext cx="1600000" cy="720000"/>
          </a:xfrm>
          <a:prstGeom prst="roundRect">
            <a:avLst/>
          </a:prstGeom>
          <a:solidFill>
            <a:srgbClr val="FFFFFF"/>
          </a:solidFill>
          <a:ln w="12700">
            <a:solidFill>
              <a:srgbClr val="D8B4FE"/>
            </a:solidFill>
          </a:ln>
        </p:spPr>
        <p:txBody>
          <a:bodyPr wrap="square" rtlCol="0"/>
          <a:lstStyle/>
          <a:p>
            <a:pPr marL="0" indent="0"/>
            <a:r>
              <a:rPr lang="en-US" sz="1450">
                <a:solidFill>
                  <a:srgbClr val="111827"/>
                </a:solidFill>
                <a:latin typeface="Arial"/>
              </a:rPr>
              <a:t>Search Database</a:t>
            </a:r>
            <a:endParaRPr lang="en-US" sz="1450"/>
          </a:p>
          <a:p>
            <a:pPr marL="0" indent="0"/>
            <a:r>
              <a:rPr lang="en-US" sz="1450">
                <a:solidFill>
                  <a:srgbClr val="111827"/>
                </a:solidFill>
                <a:latin typeface="Arial"/>
              </a:rPr>
              <a:t>Prospects, catalog, CRM, competitor data</a:t>
            </a:r>
            <a:endParaRPr lang="en-US" sz="1450"/>
          </a:p>
        </p:txBody>
      </p:sp>
      <p:cxnSp>
        <p:nvCxnSpPr>
          <p:cNvPr id="15" name="Connector 15"/>
          <p:cNvCxnSpPr/>
          <p:nvPr/>
        </p:nvCxnSpPr>
        <p:spPr>
          <a:xfrm>
            <a:off x="5870000" y="2020000"/>
            <a:ext cx="200000" cy="1"/>
          </a:xfrm>
          <a:prstGeom prst="line">
            <a:avLst/>
          </a:prstGeom>
          <a:ln w="25400">
            <a:solidFill>
              <a:srgbClr val="6D28D9"/>
            </a:solidFill>
            <a:tailEnd type="triangle"/>
          </a:ln>
        </p:spPr>
      </p:cxnSp>
      <p:sp>
        <p:nvSpPr>
          <p:cNvPr id="16" name="Flow 4"/>
          <p:cNvSpPr/>
          <p:nvPr/>
        </p:nvSpPr>
        <p:spPr>
          <a:xfrm>
            <a:off x="6100000" y="1660000"/>
            <a:ext cx="1600000" cy="720000"/>
          </a:xfrm>
          <a:prstGeom prst="roundRect">
            <a:avLst/>
          </a:prstGeom>
          <a:solidFill>
            <a:srgbClr val="FFFFFF"/>
          </a:solidFill>
          <a:ln w="12700">
            <a:solidFill>
              <a:srgbClr val="D8B4FE"/>
            </a:solidFill>
          </a:ln>
        </p:spPr>
        <p:txBody>
          <a:bodyPr wrap="square" rtlCol="0"/>
          <a:lstStyle/>
          <a:p>
            <a:pPr marL="0" indent="0"/>
            <a:r>
              <a:rPr lang="en-US" sz="1450">
                <a:solidFill>
                  <a:srgbClr val="111827"/>
                </a:solidFill>
                <a:latin typeface="Arial"/>
              </a:rPr>
              <a:t>Search Internet</a:t>
            </a:r>
            <a:endParaRPr lang="en-US" sz="1450"/>
          </a:p>
          <a:p>
            <a:pPr marL="0" indent="0"/>
            <a:r>
              <a:rPr lang="en-US" sz="1450">
                <a:solidFill>
                  <a:srgbClr val="111827"/>
                </a:solidFill>
                <a:latin typeface="Arial"/>
              </a:rPr>
              <a:t>Reviews, social, news, websites</a:t>
            </a:r>
            <a:endParaRPr lang="en-US" sz="1450"/>
          </a:p>
        </p:txBody>
      </p:sp>
      <p:cxnSp>
        <p:nvCxnSpPr>
          <p:cNvPr id="17" name="Connector 17"/>
          <p:cNvCxnSpPr/>
          <p:nvPr/>
        </p:nvCxnSpPr>
        <p:spPr>
          <a:xfrm>
            <a:off x="7730000" y="2020000"/>
            <a:ext cx="200000" cy="1"/>
          </a:xfrm>
          <a:prstGeom prst="line">
            <a:avLst/>
          </a:prstGeom>
          <a:ln w="25400">
            <a:solidFill>
              <a:srgbClr val="6D28D9"/>
            </a:solidFill>
            <a:tailEnd type="triangle"/>
          </a:ln>
        </p:spPr>
      </p:cxnSp>
      <p:sp>
        <p:nvSpPr>
          <p:cNvPr id="18" name="Flow 5"/>
          <p:cNvSpPr/>
          <p:nvPr/>
        </p:nvSpPr>
        <p:spPr>
          <a:xfrm>
            <a:off x="7960000" y="1660000"/>
            <a:ext cx="1600000" cy="720000"/>
          </a:xfrm>
          <a:prstGeom prst="roundRect">
            <a:avLst/>
          </a:prstGeom>
          <a:solidFill>
            <a:srgbClr val="FFFFFF"/>
          </a:solidFill>
          <a:ln w="12700">
            <a:solidFill>
              <a:srgbClr val="D8B4FE"/>
            </a:solidFill>
          </a:ln>
        </p:spPr>
        <p:txBody>
          <a:bodyPr wrap="square" rtlCol="0"/>
          <a:lstStyle/>
          <a:p>
            <a:pPr marL="0" indent="0"/>
            <a:r>
              <a:rPr lang="en-US" sz="1450">
                <a:solidFill>
                  <a:srgbClr val="111827"/>
                </a:solidFill>
                <a:latin typeface="Arial"/>
              </a:rPr>
              <a:t>Clean + Rank</a:t>
            </a:r>
            <a:endParaRPr lang="en-US" sz="1450"/>
          </a:p>
          <a:p>
            <a:pPr marL="0" indent="0"/>
            <a:r>
              <a:rPr lang="en-US" sz="1450">
                <a:solidFill>
                  <a:srgbClr val="111827"/>
                </a:solidFill>
                <a:latin typeface="Arial"/>
              </a:rPr>
              <a:t>Relevance, freshness, confidence</a:t>
            </a:r>
            <a:endParaRPr lang="en-US" sz="1450"/>
          </a:p>
        </p:txBody>
      </p:sp>
      <p:cxnSp>
        <p:nvCxnSpPr>
          <p:cNvPr id="19" name="Connector 19"/>
          <p:cNvCxnSpPr/>
          <p:nvPr/>
        </p:nvCxnSpPr>
        <p:spPr>
          <a:xfrm>
            <a:off x="9590000" y="2020000"/>
            <a:ext cx="200000" cy="1"/>
          </a:xfrm>
          <a:prstGeom prst="line">
            <a:avLst/>
          </a:prstGeom>
          <a:ln w="25400">
            <a:solidFill>
              <a:srgbClr val="6D28D9"/>
            </a:solidFill>
            <a:tailEnd type="triangle"/>
          </a:ln>
        </p:spPr>
      </p:cxnSp>
      <p:sp>
        <p:nvSpPr>
          <p:cNvPr id="20" name="Flow 6"/>
          <p:cNvSpPr/>
          <p:nvPr/>
        </p:nvSpPr>
        <p:spPr>
          <a:xfrm>
            <a:off x="9820000" y="1660000"/>
            <a:ext cx="1600000" cy="720000"/>
          </a:xfrm>
          <a:prstGeom prst="roundRect">
            <a:avLst/>
          </a:prstGeom>
          <a:solidFill>
            <a:srgbClr val="FFFFFF"/>
          </a:solidFill>
          <a:ln w="12700">
            <a:solidFill>
              <a:srgbClr val="D8B4FE"/>
            </a:solidFill>
          </a:ln>
        </p:spPr>
        <p:txBody>
          <a:bodyPr wrap="square" rtlCol="0"/>
          <a:lstStyle/>
          <a:p>
            <a:pPr marL="0" indent="0"/>
            <a:r>
              <a:rPr lang="en-US" sz="1450">
                <a:solidFill>
                  <a:srgbClr val="111827"/>
                </a:solidFill>
                <a:latin typeface="Arial"/>
              </a:rPr>
              <a:t>AI Model</a:t>
            </a:r>
            <a:endParaRPr lang="en-US" sz="1450"/>
          </a:p>
          <a:p>
            <a:pPr marL="0" indent="0"/>
            <a:r>
              <a:rPr lang="en-US" sz="1450">
                <a:solidFill>
                  <a:srgbClr val="111827"/>
                </a:solidFill>
                <a:latin typeface="Arial"/>
              </a:rPr>
              <a:t>Generates answer from ranked context</a:t>
            </a:r>
            <a:endParaRPr lang="en-US" sz="1450"/>
          </a:p>
        </p:txBody>
      </p:sp>
      <p:cxnSp>
        <p:nvCxnSpPr>
          <p:cNvPr id="21" name="Connector 21"/>
          <p:cNvCxnSpPr/>
          <p:nvPr/>
        </p:nvCxnSpPr>
        <p:spPr>
          <a:xfrm>
            <a:off x="11450000" y="2020000"/>
            <a:ext cx="200000" cy="1"/>
          </a:xfrm>
          <a:prstGeom prst="line">
            <a:avLst/>
          </a:prstGeom>
          <a:ln w="25400">
            <a:solidFill>
              <a:srgbClr val="6D28D9"/>
            </a:solidFill>
            <a:tailEnd type="triangle"/>
          </a:ln>
        </p:spPr>
      </p:cxnSp>
      <p:sp>
        <p:nvSpPr>
          <p:cNvPr id="22" name="Flow 7"/>
          <p:cNvSpPr/>
          <p:nvPr/>
        </p:nvSpPr>
        <p:spPr>
          <a:xfrm>
            <a:off x="11680000" y="1660000"/>
            <a:ext cx="1600000" cy="720000"/>
          </a:xfrm>
          <a:prstGeom prst="roundRect">
            <a:avLst/>
          </a:prstGeom>
          <a:solidFill>
            <a:srgbClr val="EEF2FF"/>
          </a:solidFill>
          <a:ln w="12700">
            <a:solidFill>
              <a:srgbClr val="6D28D9"/>
            </a:solidFill>
          </a:ln>
        </p:spPr>
        <p:txBody>
          <a:bodyPr wrap="square" rtlCol="0"/>
          <a:lstStyle/>
          <a:p>
            <a:pPr marL="0" indent="0"/>
            <a:r>
              <a:rPr lang="en-US" sz="1450" b="1">
                <a:solidFill>
                  <a:srgbClr val="111827"/>
                </a:solidFill>
                <a:latin typeface="Arial"/>
              </a:rPr>
              <a:t>Structured Answer</a:t>
            </a:r>
            <a:endParaRPr lang="en-US" sz="1450"/>
          </a:p>
          <a:p>
            <a:pPr marL="0" indent="0"/>
            <a:r>
              <a:rPr lang="en-US" sz="1450" b="1">
                <a:solidFill>
                  <a:srgbClr val="111827"/>
                </a:solidFill>
                <a:latin typeface="Arial"/>
              </a:rPr>
              <a:t>Answer, evidence, recommendation, sources</a:t>
            </a:r>
            <a:endParaRPr lang="en-US" sz="1450"/>
          </a:p>
        </p:txBody>
      </p:sp>
      <p:sp>
        <p:nvSpPr>
          <p:cNvPr id="40" name="Output Card"/>
          <p:cNvSpPr/>
          <p:nvPr/>
        </p:nvSpPr>
        <p:spPr>
          <a:xfrm>
            <a:off x="790000" y="2950000"/>
            <a:ext cx="5060000" cy="2500000"/>
          </a:xfrm>
          <a:prstGeom prst="roundRect">
            <a:avLst/>
          </a:prstGeom>
          <a:solidFill>
            <a:srgbClr val="F9FAFB"/>
          </a:solidFill>
          <a:ln w="12700">
            <a:solidFill>
              <a:srgbClr val="DDD6FE"/>
            </a:solidFill>
          </a:ln>
        </p:spPr>
        <p:txBody>
          <a:bodyPr wrap="square" rtlCol="0"/>
          <a:lstStyle/>
          <a:p>
            <a:pPr marL="0" indent="0"/>
            <a:r>
              <a:rPr lang="en-US" sz="1500">
                <a:solidFill>
                  <a:srgbClr val="1F2937"/>
                </a:solidFill>
                <a:latin typeface="Arial"/>
              </a:rPr>
              <a:t>Structured output shown in the app</a:t>
            </a:r>
            <a:endParaRPr lang="en-US" sz="1500"/>
          </a:p>
          <a:p>
            <a:pPr marL="0" indent="0"/>
            <a:r>
              <a:rPr lang="en-US" sz="1500">
                <a:solidFill>
                  <a:srgbClr val="1F2937"/>
                </a:solidFill>
                <a:latin typeface="Arial"/>
              </a:rPr>
              <a:t>Answer: direct response to sales rep question</a:t>
            </a:r>
            <a:endParaRPr lang="en-US" sz="1500"/>
          </a:p>
          <a:p>
            <a:pPr marL="0" indent="0"/>
            <a:r>
              <a:rPr lang="en-US" sz="1500">
                <a:solidFill>
                  <a:srgbClr val="1F2937"/>
                </a:solidFill>
                <a:latin typeface="Arial"/>
              </a:rPr>
              <a:t>From Database: active prospect, product match, CRM memory</a:t>
            </a:r>
            <a:endParaRPr lang="en-US" sz="1500"/>
          </a:p>
          <a:p>
            <a:pPr marL="0" indent="0"/>
            <a:r>
              <a:rPr lang="en-US" sz="1500">
                <a:solidFill>
                  <a:srgbClr val="1F2937"/>
                </a:solidFill>
                <a:latin typeface="Arial"/>
              </a:rPr>
              <a:t>From Internet: proxy web signals now; live APIs in production</a:t>
            </a:r>
            <a:endParaRPr lang="en-US" sz="1500"/>
          </a:p>
          <a:p>
            <a:pPr marL="0" indent="0"/>
            <a:r>
              <a:rPr lang="en-US" sz="1500">
                <a:solidFill>
                  <a:srgbClr val="1F2937"/>
                </a:solidFill>
                <a:latin typeface="Arial"/>
              </a:rPr>
              <a:t>Recommendation: what to say or do next</a:t>
            </a:r>
            <a:endParaRPr lang="en-US" sz="1500"/>
          </a:p>
          <a:p>
            <a:pPr marL="0" indent="0"/>
            <a:r>
              <a:rPr lang="en-US" sz="1500">
                <a:solidFill>
                  <a:srgbClr val="1F2937"/>
                </a:solidFill>
                <a:latin typeface="Arial"/>
              </a:rPr>
              <a:t>Sources: source name, timestamp, confidence</a:t>
            </a:r>
            <a:endParaRPr lang="en-US" sz="1500"/>
          </a:p>
        </p:txBody>
      </p:sp>
      <p:sp>
        <p:nvSpPr>
          <p:cNvPr id="41" name="Why It Matters"/>
          <p:cNvSpPr/>
          <p:nvPr/>
        </p:nvSpPr>
        <p:spPr>
          <a:xfrm>
            <a:off x="6440000" y="2950000"/>
            <a:ext cx="4960000" cy="2500000"/>
          </a:xfrm>
          <a:prstGeom prst="roundRect">
            <a:avLst/>
          </a:prstGeom>
          <a:solidFill>
            <a:srgbClr val="ECFDF5"/>
          </a:solidFill>
          <a:ln w="12700">
            <a:solidFill>
              <a:srgbClr val="10B981"/>
            </a:solidFill>
          </a:ln>
        </p:spPr>
        <p:txBody>
          <a:bodyPr wrap="square" rtlCol="0"/>
          <a:lstStyle/>
          <a:p>
            <a:pPr marL="0" indent="0"/>
            <a:r>
              <a:rPr lang="en-US" sz="1500">
                <a:solidFill>
                  <a:srgbClr val="1F2937"/>
                </a:solidFill>
                <a:latin typeface="Arial"/>
              </a:rPr>
              <a:t>Why this is stronger for evaluation</a:t>
            </a:r>
            <a:endParaRPr lang="en-US" sz="1500"/>
          </a:p>
          <a:p>
            <a:pPr marL="0" indent="0"/>
            <a:r>
              <a:rPr lang="en-US" sz="1500">
                <a:solidFill>
                  <a:srgbClr val="1F2937"/>
                </a:solidFill>
                <a:latin typeface="Arial"/>
              </a:rPr>
              <a:t>Moves Copilot from canned text to backend intelligence</a:t>
            </a:r>
            <a:endParaRPr lang="en-US" sz="1500"/>
          </a:p>
          <a:p>
            <a:pPr marL="0" indent="0"/>
            <a:r>
              <a:rPr lang="en-US" sz="1500">
                <a:solidFill>
                  <a:srgbClr val="1F2937"/>
                </a:solidFill>
                <a:latin typeface="Arial"/>
              </a:rPr>
              <a:t>Keeps every answer tied to logged-in seller category</a:t>
            </a:r>
            <a:endParaRPr lang="en-US" sz="1500"/>
          </a:p>
          <a:p>
            <a:pPr marL="0" indent="0"/>
            <a:r>
              <a:rPr lang="en-US" sz="1500">
                <a:solidFill>
                  <a:srgbClr val="1F2937"/>
                </a:solidFill>
                <a:latin typeface="Arial"/>
              </a:rPr>
              <a:t>Prevents mismatch between prospect, pitch, and evidence</a:t>
            </a:r>
            <a:endParaRPr lang="en-US" sz="1500"/>
          </a:p>
          <a:p>
            <a:pPr marL="0" indent="0"/>
            <a:r>
              <a:rPr lang="en-US" sz="1500">
                <a:solidFill>
                  <a:srgbClr val="1F2937"/>
                </a:solidFill>
                <a:latin typeface="Arial"/>
              </a:rPr>
              <a:t>Adds explainability: source, timestamp, confidence, reason</a:t>
            </a:r>
            <a:endParaRPr lang="en-US" sz="1500"/>
          </a:p>
          <a:p>
            <a:pPr marL="0" indent="0"/>
            <a:r>
              <a:rPr lang="en-US" sz="1500">
                <a:solidFill>
                  <a:srgbClr val="1F2937"/>
                </a:solidFill>
                <a:latin typeface="Arial"/>
              </a:rPr>
              <a:t>Clearly separates MVP proxy data from production live APIs</a:t>
            </a:r>
            <a:endParaRPr lang="en-US" sz="1500"/>
          </a:p>
        </p:txBody>
      </p:sp>
      <p:sp>
        <p:nvSpPr>
          <p:cNvPr id="90" name="Footer"/>
          <p:cNvSpPr txBox="1"/>
          <p:nvPr/>
        </p:nvSpPr>
        <p:spPr>
          <a:xfrm>
            <a:off x="548640" y="6480000"/>
            <a:ext cx="10800000" cy="260000"/>
          </a:xfrm>
          <a:prstGeom prst="rect">
            <a:avLst/>
          </a:prstGeom>
          <a:noFill/>
        </p:spPr>
        <p:txBody>
          <a:bodyPr wrap="square" rtlCol="0"/>
          <a:lstStyle/>
          <a:p>
            <a:pPr marL="0" indent="0"/>
            <a:r>
              <a:rPr lang="en-US" sz="1150">
                <a:solidFill>
                  <a:srgbClr val="6B7280"/>
                </a:solidFill>
                <a:latin typeface="Arial"/>
              </a:rPr>
              <a:t>FoodIntel AI | BITSoM PM Capstone | AI Sales Intelligence Copilot</a:t>
            </a:r>
            <a:endParaRPr lang="en-US" sz="115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Rule"/>
          <p:cNvSpPr/>
          <p:nvPr/>
        </p:nvSpPr>
        <p:spPr>
          <a:xfrm>
            <a:off x="0" y="0"/>
            <a:ext cx="12192000" cy="165000"/>
          </a:xfrm>
          <a:prstGeom prst="rect">
            <a:avLst/>
          </a:prstGeom>
          <a:solidFill>
            <a:srgbClr val="5B21B6"/>
          </a:solidFill>
          <a:ln w="12700">
            <a:solidFill>
              <a:srgbClr val="5B21B6"/>
            </a:solidFill>
          </a:ln>
        </p:spPr>
        <p:txBody>
          <a:bodyPr wrap="square" rtlCol="0"/>
          <a:lstStyle/>
          <a:p>
            <a:pPr marL="0" indent="0"/>
            <a:r>
              <a:rPr lang="en-US" sz="1800">
                <a:solidFill>
                  <a:srgbClr val="1F2937"/>
                </a:solidFill>
                <a:latin typeface="Arial"/>
              </a:rPr>
              <a:t/>
            </a:r>
            <a:endParaRPr lang="en-US" sz="1800"/>
          </a:p>
        </p:txBody>
      </p:sp>
      <p:sp>
        <p:nvSpPr>
          <p:cNvPr id="3" name="Title"/>
          <p:cNvSpPr txBox="1"/>
          <p:nvPr/>
        </p:nvSpPr>
        <p:spPr>
          <a:xfrm>
            <a:off x="548640" y="360000"/>
            <a:ext cx="11000000" cy="620000"/>
          </a:xfrm>
          <a:prstGeom prst="rect">
            <a:avLst/>
          </a:prstGeom>
          <a:noFill/>
        </p:spPr>
        <p:txBody>
          <a:bodyPr wrap="square" rtlCol="0"/>
          <a:lstStyle/>
          <a:p>
            <a:pPr marL="0" indent="0"/>
            <a:r>
              <a:rPr lang="en-US" sz="3300" b="1">
                <a:solidFill>
                  <a:srgbClr val="111827"/>
                </a:solidFill>
                <a:latin typeface="Arial"/>
              </a:rPr>
              <a:t>Final App Update: Copilot is Now Evidence-Grounded</a:t>
            </a:r>
            <a:endParaRPr lang="en-US" sz="3300"/>
          </a:p>
        </p:txBody>
      </p:sp>
      <p:sp>
        <p:nvSpPr>
          <p:cNvPr id="4" name="Subtitle"/>
          <p:cNvSpPr txBox="1"/>
          <p:nvPr/>
        </p:nvSpPr>
        <p:spPr>
          <a:xfrm>
            <a:off x="548640" y="900000"/>
            <a:ext cx="11000000" cy="420000"/>
          </a:xfrm>
          <a:prstGeom prst="rect">
            <a:avLst/>
          </a:prstGeom>
          <a:noFill/>
        </p:spPr>
        <p:txBody>
          <a:bodyPr wrap="square" rtlCol="0"/>
          <a:lstStyle/>
          <a:p>
            <a:pPr marL="0" indent="0"/>
            <a:r>
              <a:rPr lang="en-US" sz="1650">
                <a:solidFill>
                  <a:srgbClr val="6B7280"/>
                </a:solidFill>
                <a:latin typeface="Arial"/>
              </a:rPr>
              <a:t>This strengthens the project against the problem statement: timely, contextual company insights before sales meetings with reduced manual research effort.</a:t>
            </a:r>
            <a:endParaRPr lang="en-US" sz="1650"/>
          </a:p>
        </p:txBody>
      </p:sp>
      <p:sp>
        <p:nvSpPr>
          <p:cNvPr id="10" name="Question Box"/>
          <p:cNvSpPr/>
          <p:nvPr/>
        </p:nvSpPr>
        <p:spPr>
          <a:xfrm>
            <a:off x="690000" y="1440000"/>
            <a:ext cx="10800000" cy="760000"/>
          </a:xfrm>
          <a:prstGeom prst="roundRect">
            <a:avLst/>
          </a:prstGeom>
          <a:solidFill>
            <a:srgbClr val="F5F3FF"/>
          </a:solidFill>
          <a:ln w="12700">
            <a:solidFill>
              <a:srgbClr val="7C3AED"/>
            </a:solidFill>
          </a:ln>
        </p:spPr>
        <p:txBody>
          <a:bodyPr wrap="square" rtlCol="0"/>
          <a:lstStyle/>
          <a:p>
            <a:pPr marL="0" indent="0"/>
            <a:r>
              <a:rPr lang="en-US" sz="1700">
                <a:solidFill>
                  <a:srgbClr val="1F2937"/>
                </a:solidFill>
                <a:latin typeface="Arial"/>
              </a:rPr>
              <a:t>Question answered in the final app update:</a:t>
            </a:r>
            <a:endParaRPr lang="en-US" sz="1700"/>
          </a:p>
          <a:p>
            <a:pPr marL="0" indent="0"/>
            <a:r>
              <a:rPr lang="en-US" sz="1700">
                <a:solidFill>
                  <a:srgbClr val="1F2937"/>
                </a:solidFill>
                <a:latin typeface="Arial"/>
              </a:rPr>
              <a:t>How should the chatbot work so responses are grounded, contextual, and source-backed?</a:t>
            </a:r>
            <a:endParaRPr lang="en-US" sz="1700"/>
          </a:p>
        </p:txBody>
      </p:sp>
      <p:sp>
        <p:nvSpPr>
          <p:cNvPr id="11" name="Answer Box"/>
          <p:cNvSpPr/>
          <p:nvPr/>
        </p:nvSpPr>
        <p:spPr>
          <a:xfrm>
            <a:off x="690000" y="2420000"/>
            <a:ext cx="10800000" cy="1580000"/>
          </a:xfrm>
          <a:prstGeom prst="roundRect">
            <a:avLst/>
          </a:prstGeom>
          <a:solidFill>
            <a:srgbClr val="FFFFFF"/>
          </a:solidFill>
          <a:ln w="12700">
            <a:solidFill>
              <a:srgbClr val="E5E7EB"/>
            </a:solidFill>
          </a:ln>
        </p:spPr>
        <p:txBody>
          <a:bodyPr wrap="square" rtlCol="0"/>
          <a:lstStyle/>
          <a:p>
            <a:pPr marL="0" indent="0"/>
            <a:r>
              <a:rPr lang="en-US" sz="1550">
                <a:solidFill>
                  <a:srgbClr val="1F2937"/>
                </a:solidFill>
                <a:latin typeface="Arial"/>
              </a:rPr>
              <a:t>Answer:</a:t>
            </a:r>
            <a:endParaRPr lang="en-US" sz="1550"/>
          </a:p>
          <a:p>
            <a:pPr marL="0" indent="0"/>
            <a:r>
              <a:rPr lang="en-US" sz="1550">
                <a:solidFill>
                  <a:srgbClr val="1F2937"/>
                </a:solidFill>
                <a:latin typeface="Arial"/>
              </a:rPr>
              <a:t>The Copilot now follows a RAG-style flow. It first reads FoodIntel’s backend data for the active prospect, seller category, product catalog, CRM memory and competitor battlecard. It then adds internet/proxy signals such as public listings, menu cues, review-style signals and production-ready web-search connectors. The backend ranks this evidence and returns a structured answer instead of a generic paragraph.</a:t>
            </a:r>
            <a:endParaRPr lang="en-US" sz="1550"/>
          </a:p>
        </p:txBody>
      </p:sp>
      <p:sp>
        <p:nvSpPr>
          <p:cNvPr id="12" name="Implementation Box"/>
          <p:cNvSpPr/>
          <p:nvPr/>
        </p:nvSpPr>
        <p:spPr>
          <a:xfrm>
            <a:off x="690000" y="4240000"/>
            <a:ext cx="5200000" cy="1580000"/>
          </a:xfrm>
          <a:prstGeom prst="roundRect">
            <a:avLst/>
          </a:prstGeom>
          <a:solidFill>
            <a:srgbClr val="F9FAFB"/>
          </a:solidFill>
          <a:ln w="12700">
            <a:solidFill>
              <a:srgbClr val="D1D5DB"/>
            </a:solidFill>
          </a:ln>
        </p:spPr>
        <p:txBody>
          <a:bodyPr wrap="square" rtlCol="0"/>
          <a:lstStyle/>
          <a:p>
            <a:pPr marL="0" indent="0"/>
            <a:r>
              <a:rPr lang="en-US" sz="1450">
                <a:solidFill>
                  <a:srgbClr val="1F2937"/>
                </a:solidFill>
                <a:latin typeface="Arial"/>
              </a:rPr>
              <a:t>Implementation added</a:t>
            </a:r>
            <a:endParaRPr lang="en-US" sz="1450"/>
          </a:p>
          <a:p>
            <a:pPr marL="0" indent="0"/>
            <a:r>
              <a:rPr lang="en-US" sz="1450">
                <a:solidFill>
                  <a:srgbClr val="1F2937"/>
                </a:solidFill>
                <a:latin typeface="Arial"/>
              </a:rPr>
              <a:t>Backend route: POST /copilot</a:t>
            </a:r>
            <a:endParaRPr lang="en-US" sz="1450"/>
          </a:p>
          <a:p>
            <a:pPr marL="0" indent="0"/>
            <a:r>
              <a:rPr lang="en-US" sz="1450">
                <a:solidFill>
                  <a:srgbClr val="1F2937"/>
                </a:solidFill>
                <a:latin typeface="Arial"/>
              </a:rPr>
              <a:t>Database search: prospect, catalog, CRM, competitors</a:t>
            </a:r>
            <a:endParaRPr lang="en-US" sz="1450"/>
          </a:p>
          <a:p>
            <a:pPr marL="0" indent="0"/>
            <a:r>
              <a:rPr lang="en-US" sz="1450">
                <a:solidFill>
                  <a:srgbClr val="1F2937"/>
                </a:solidFill>
                <a:latin typeface="Arial"/>
              </a:rPr>
              <a:t>Signal layer: proxy web signals + production connector note</a:t>
            </a:r>
            <a:endParaRPr lang="en-US" sz="1450"/>
          </a:p>
          <a:p>
            <a:pPr marL="0" indent="0"/>
            <a:r>
              <a:rPr lang="en-US" sz="1450">
                <a:solidFill>
                  <a:srgbClr val="1F2937"/>
                </a:solidFill>
                <a:latin typeface="Arial"/>
              </a:rPr>
              <a:t>Frontend renders: Answer, Database, Internet, Recommendation, Sources</a:t>
            </a:r>
            <a:endParaRPr lang="en-US" sz="1450"/>
          </a:p>
          <a:p>
            <a:pPr marL="0" indent="0"/>
            <a:r>
              <a:rPr lang="en-US" sz="1450">
                <a:solidFill>
                  <a:srgbClr val="1F2937"/>
                </a:solidFill>
                <a:latin typeface="Arial"/>
              </a:rPr>
              <a:t>Verified: backend compile, route test, frontend build</a:t>
            </a:r>
            <a:endParaRPr lang="en-US" sz="1450"/>
          </a:p>
        </p:txBody>
      </p:sp>
      <p:sp>
        <p:nvSpPr>
          <p:cNvPr id="13" name="Production Box"/>
          <p:cNvSpPr/>
          <p:nvPr/>
        </p:nvSpPr>
        <p:spPr>
          <a:xfrm>
            <a:off x="6400000" y="4240000"/>
            <a:ext cx="5200000" cy="1580000"/>
          </a:xfrm>
          <a:prstGeom prst="roundRect">
            <a:avLst/>
          </a:prstGeom>
          <a:solidFill>
            <a:srgbClr val="ECFDF5"/>
          </a:solidFill>
          <a:ln w="12700">
            <a:solidFill>
              <a:srgbClr val="10B981"/>
            </a:solidFill>
          </a:ln>
        </p:spPr>
        <p:txBody>
          <a:bodyPr wrap="square" rtlCol="0"/>
          <a:lstStyle/>
          <a:p>
            <a:pPr marL="0" indent="0"/>
            <a:r>
              <a:rPr lang="en-US" sz="1450">
                <a:solidFill>
                  <a:srgbClr val="1F2937"/>
                </a:solidFill>
                <a:latin typeface="Arial"/>
              </a:rPr>
              <a:t>Production upgrade path</a:t>
            </a:r>
            <a:endParaRPr lang="en-US" sz="1450"/>
          </a:p>
          <a:p>
            <a:pPr marL="0" indent="0"/>
            <a:r>
              <a:rPr lang="en-US" sz="1450">
                <a:solidFill>
                  <a:srgbClr val="1F2937"/>
                </a:solidFill>
                <a:latin typeface="Arial"/>
              </a:rPr>
              <a:t>Connect Google Reviews, LinkedIn, Instagram and news APIs</a:t>
            </a:r>
            <a:endParaRPr lang="en-US" sz="1450"/>
          </a:p>
          <a:p>
            <a:pPr marL="0" indent="0"/>
            <a:r>
              <a:rPr lang="en-US" sz="1450">
                <a:solidFill>
                  <a:srgbClr val="1F2937"/>
                </a:solidFill>
                <a:latin typeface="Arial"/>
              </a:rPr>
              <a:t>Add live website scraping with compliance controls</a:t>
            </a:r>
            <a:endParaRPr lang="en-US" sz="1450"/>
          </a:p>
          <a:p>
            <a:pPr marL="0" indent="0"/>
            <a:r>
              <a:rPr lang="en-US" sz="1450">
                <a:solidFill>
                  <a:srgbClr val="1F2937"/>
                </a:solidFill>
                <a:latin typeface="Arial"/>
              </a:rPr>
              <a:t>Store raw signals in Supabase before summarization</a:t>
            </a:r>
            <a:endParaRPr lang="en-US" sz="1450"/>
          </a:p>
          <a:p>
            <a:pPr marL="0" indent="0"/>
            <a:r>
              <a:rPr lang="en-US" sz="1450">
                <a:solidFill>
                  <a:srgbClr val="1F2937"/>
                </a:solidFill>
                <a:latin typeface="Arial"/>
              </a:rPr>
              <a:t>Use confidence scoring and source audit logs for trust</a:t>
            </a:r>
            <a:endParaRPr lang="en-US" sz="1450"/>
          </a:p>
          <a:p>
            <a:pPr marL="0" indent="0"/>
            <a:r>
              <a:rPr lang="en-US" sz="1450">
                <a:solidFill>
                  <a:srgbClr val="1F2937"/>
                </a:solidFill>
                <a:latin typeface="Arial"/>
              </a:rPr>
              <a:t>Keep PostHog events for Copilot usage analytics</a:t>
            </a:r>
            <a:endParaRPr lang="en-US" sz="1450"/>
          </a:p>
        </p:txBody>
      </p:sp>
      <p:sp>
        <p:nvSpPr>
          <p:cNvPr id="90" name="Footer"/>
          <p:cNvSpPr txBox="1"/>
          <p:nvPr/>
        </p:nvSpPr>
        <p:spPr>
          <a:xfrm>
            <a:off x="548640" y="6480000"/>
            <a:ext cx="10800000" cy="260000"/>
          </a:xfrm>
          <a:prstGeom prst="rect">
            <a:avLst/>
          </a:prstGeom>
          <a:noFill/>
        </p:spPr>
        <p:txBody>
          <a:bodyPr wrap="square" rtlCol="0"/>
          <a:lstStyle/>
          <a:p>
            <a:pPr marL="0" indent="0"/>
            <a:r>
              <a:rPr lang="en-US" sz="1150">
                <a:solidFill>
                  <a:srgbClr val="6B7280"/>
                </a:solidFill>
                <a:latin typeface="Arial"/>
              </a:rPr>
              <a:t>FoodIntel AI | BITSoM PM Capstone | AI Sales Intelligence Copilot</a:t>
            </a:r>
            <a:endParaRPr lang="en-US" sz="115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3333333" cy="7500000"/>
          <a:chOff x="0" y="0"/>
          <a:chExt cx="13333333" cy="7500000"/>
        </a:xfrm>
      </p:grpSpPr>
      <p:sp>
        <p:nvSpPr>
          <p:cNvPr id="10" name="Text 10"/>
          <p:cNvSpPr txBox="1"/>
          <p:nvPr/>
        </p:nvSpPr>
        <p:spPr>
          <a:xfrm>
            <a:off x="2971800" y="2011680"/>
            <a:ext cx="6217920" cy="1600200"/>
          </a:xfrm>
          <a:prstGeom prst="rect">
            <a:avLst/>
          </a:prstGeom>
          <a:noFill/>
          <a:ln>
            <a:noFill/>
          </a:ln>
        </p:spPr>
        <p:txBody>
          <a:bodyPr wrap="square" lIns="35000" tIns="18000" rIns="35000" bIns="18000"/>
          <a:lstStyle/>
          <a:p>
            <a:pPr algn="l"/>
            <a:r>
              <a:rPr lang="en-US" sz="4800" b="1">
                <a:solidFill>
                  <a:srgbClr val="4F46E5"/>
                </a:solidFill>
              </a:rPr>
              <a:t>THANK
YOU!</a:t>
            </a:r>
          </a:p>
        </p:txBody>
      </p:sp>
      <p:sp>
        <p:nvSpPr>
          <p:cNvPr id="11" name="Text 11"/>
          <p:cNvSpPr txBox="1"/>
          <p:nvPr/>
        </p:nvSpPr>
        <p:spPr>
          <a:xfrm>
            <a:off x="3703320" y="3886200"/>
            <a:ext cx="4663440" cy="457200"/>
          </a:xfrm>
          <a:prstGeom prst="rect">
            <a:avLst/>
          </a:prstGeom>
          <a:noFill/>
          <a:ln>
            <a:noFill/>
          </a:ln>
        </p:spPr>
        <p:txBody>
          <a:bodyPr wrap="square" lIns="35000" tIns="18000" rIns="35000" bIns="18000"/>
          <a:lstStyle/>
          <a:p>
            <a:pPr algn="l"/>
            <a:r>
              <a:rPr lang="en-US" sz="2600" b="1">
                <a:solidFill>
                  <a:srgbClr val="059669"/>
                </a:solidFill>
              </a:rPr>
              <a:t>FoodIntel AI</a:t>
            </a:r>
          </a:p>
        </p:txBody>
      </p:sp>
      <p:sp>
        <p:nvSpPr>
          <p:cNvPr id="12" name="Text 12"/>
          <p:cNvSpPr txBox="1"/>
          <p:nvPr/>
        </p:nvSpPr>
        <p:spPr>
          <a:xfrm>
            <a:off x="3108960" y="4434840"/>
            <a:ext cx="6126480" cy="365760"/>
          </a:xfrm>
          <a:prstGeom prst="rect">
            <a:avLst/>
          </a:prstGeom>
          <a:noFill/>
          <a:ln>
            <a:noFill/>
          </a:ln>
        </p:spPr>
        <p:txBody>
          <a:bodyPr wrap="square" lIns="35000" tIns="18000" rIns="35000" bIns="18000"/>
          <a:lstStyle/>
          <a:p>
            <a:pPr algn="l"/>
            <a:r>
              <a:rPr lang="en-US" sz="1300">
                <a:solidFill>
                  <a:srgbClr val="4B5563"/>
                </a:solidFill>
              </a:rPr>
              <a:t>AI Sales Intelligence Copilot for food-industry sales teams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1 | FoodIntel AI</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What is the TAM / SAM / SOM market opportunity?</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Answer</a:t>
            </a:r>
            <a:endParaRPr lang="en-US" sz="1500"/>
          </a:p>
          <a:p>
            <a:r>
              <a:rPr lang="en-US" sz="1500">
                <a:solidFill>
                  <a:srgbClr val="111827"/>
                </a:solidFill>
                <a:latin typeface="Arial"/>
              </a:rPr>
              <a:t>TAM: The broad opportunity is the global sales intelligence, CRM and AI sales enablement market. FoodIntel AI sits inside this space because it helps sales teams prepare, prioritize and follow up using AI-generated account intelligence.</a:t>
            </a:r>
            <a:endParaRPr lang="en-US" sz="1500"/>
          </a:p>
          <a:p>
            <a:r>
              <a:rPr lang="en-US" sz="1500">
                <a:solidFill>
                  <a:srgbClr val="111827"/>
                </a:solidFill>
                <a:latin typeface="Arial"/>
              </a:rPr>
              <a:t>SAM: The serviceable market is food, hospitality and supplier-side sales teams that sell packaging, ingredients, beverages, hygiene supplies, equipment, POS software and logistics services.</a:t>
            </a:r>
            <a:endParaRPr lang="en-US" sz="1500"/>
          </a:p>
          <a:p>
            <a:r>
              <a:rPr lang="en-US" sz="1500">
                <a:solidFill>
                  <a:srgbClr val="111827"/>
                </a:solidFill>
                <a:latin typeface="Arial"/>
              </a:rPr>
              <a:t>SOM: The initial obtainable market is India-focused food-industry supplier teams, starting with Hyderabad categories such as packaging and ingredients where pre-meeting research is manual and repetitive.</a:t>
            </a:r>
            <a:endParaRPr lang="en-US" sz="1500"/>
          </a:p>
        </p:txBody>
      </p:sp>
      <p:sp>
        <p:nvSpPr>
          <p:cNvPr id="11" name="Panel 11"/>
          <p:cNvSpPr/>
          <p:nvPr/>
        </p:nvSpPr>
        <p:spPr>
          <a:xfrm>
            <a:off x="640000" y="3250000"/>
            <a:ext cx="3400000" cy="1550000"/>
          </a:xfrm>
          <a:prstGeom prst="roundRect">
            <a:avLst/>
          </a:prstGeom>
          <a:solidFill>
            <a:srgbClr val="ECFDF5"/>
          </a:solidFill>
          <a:ln w="12700">
            <a:solidFill>
              <a:srgbClr val="10B981"/>
            </a:solidFill>
          </a:ln>
        </p:spPr>
        <p:txBody>
          <a:bodyPr wrap="square" rtlCol="0" lIns="180000" tIns="140000" rIns="180000" bIns="140000"/>
          <a:lstStyle/>
          <a:p>
            <a:r>
              <a:rPr lang="en-US" sz="1500">
                <a:solidFill>
                  <a:srgbClr val="111827"/>
                </a:solidFill>
                <a:latin typeface="Arial"/>
              </a:rPr>
              <a:t>Why this matters</a:t>
            </a:r>
            <a:endParaRPr lang="en-US" sz="1500"/>
          </a:p>
          <a:p>
            <a:r>
              <a:rPr lang="en-US" sz="1500">
                <a:solidFill>
                  <a:srgbClr val="111827"/>
                </a:solidFill>
                <a:latin typeface="Arial"/>
              </a:rPr>
              <a:t>This proves the idea is not only a classroom prototype. It can become a focused SaaS product for a clearly reachable B2B niche.</a:t>
            </a:r>
            <a:endParaRPr lang="en-US" sz="1500"/>
          </a:p>
        </p:txBody>
      </p:sp>
      <p:sp>
        <p:nvSpPr>
          <p:cNvPr id="12" name="Panel 12"/>
          <p:cNvSpPr/>
          <p:nvPr/>
        </p:nvSpPr>
        <p:spPr>
          <a:xfrm>
            <a:off x="4250000" y="3250000"/>
            <a:ext cx="3400000" cy="1550000"/>
          </a:xfrm>
          <a:prstGeom prst="roundRect">
            <a:avLst/>
          </a:prstGeom>
          <a:solidFill>
            <a:srgbClr val="F5F3FF"/>
          </a:solidFill>
          <a:ln w="12700">
            <a:solidFill>
              <a:srgbClr val="DDD6FE"/>
            </a:solidFill>
          </a:ln>
        </p:spPr>
        <p:txBody>
          <a:bodyPr wrap="square" rtlCol="0" lIns="180000" tIns="140000" rIns="180000" bIns="140000"/>
          <a:lstStyle/>
          <a:p>
            <a:r>
              <a:rPr lang="en-US" sz="1500">
                <a:solidFill>
                  <a:srgbClr val="111827"/>
                </a:solidFill>
                <a:latin typeface="Arial"/>
              </a:rPr>
              <a:t>Beachhead</a:t>
            </a:r>
            <a:endParaRPr lang="en-US" sz="1500"/>
          </a:p>
          <a:p>
            <a:r>
              <a:rPr lang="en-US" sz="1500">
                <a:solidFill>
                  <a:srgbClr val="111827"/>
                </a:solidFill>
                <a:latin typeface="Arial"/>
              </a:rPr>
              <a:t>Packaging and ingredient sales teams in Hyderabad, because restaurant density and supplier competition create a strong need for contextual prospect preparation.</a:t>
            </a:r>
            <a:endParaRPr lang="en-US" sz="1500"/>
          </a:p>
        </p:txBody>
      </p:sp>
      <p:sp>
        <p:nvSpPr>
          <p:cNvPr id="13" name="Panel 13"/>
          <p:cNvSpPr/>
          <p:nvPr/>
        </p:nvSpPr>
        <p:spPr>
          <a:xfrm>
            <a:off x="7860000" y="3250000"/>
            <a:ext cx="3680000" cy="1550000"/>
          </a:xfrm>
          <a:prstGeom prst="roundRect">
            <a:avLst/>
          </a:prstGeom>
          <a:solidFill>
            <a:srgbClr val="FFFBEB"/>
          </a:solidFill>
          <a:ln w="12700">
            <a:solidFill>
              <a:srgbClr val="FDE68A"/>
            </a:solidFill>
          </a:ln>
        </p:spPr>
        <p:txBody>
          <a:bodyPr wrap="square" rtlCol="0" lIns="180000" tIns="140000" rIns="180000" bIns="140000"/>
          <a:lstStyle/>
          <a:p>
            <a:r>
              <a:rPr lang="en-US" sz="1500">
                <a:solidFill>
                  <a:srgbClr val="111827"/>
                </a:solidFill>
                <a:latin typeface="Arial"/>
              </a:rPr>
              <a:t>Expansion</a:t>
            </a:r>
            <a:endParaRPr lang="en-US" sz="1500"/>
          </a:p>
          <a:p>
            <a:r>
              <a:rPr lang="en-US" sz="1500">
                <a:solidFill>
                  <a:srgbClr val="111827"/>
                </a:solidFill>
                <a:latin typeface="Arial"/>
              </a:rPr>
              <a:t>After validation, the same architecture can expand to beverages, bakery ingredients, hygiene supplies, kitchen equipment, POS/CRM and logistics.</a:t>
            </a:r>
            <a:endParaRPr lang="en-US" sz="150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1 | FoodIntel AI</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Who is your competition and how are you positioned?</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Answer</a:t>
            </a:r>
            <a:endParaRPr lang="en-US" sz="1500"/>
          </a:p>
          <a:p>
            <a:r>
              <a:rPr lang="en-US" sz="1500">
                <a:solidFill>
                  <a:srgbClr val="111827"/>
                </a:solidFill>
                <a:latin typeface="Arial"/>
              </a:rPr>
              <a:t>Competitors include generic CRMs, generic AI chatbots, prospecting databases and manual Google research. These tools either store customer records or generate generic summaries, but they do not deeply connect food-business signals to what the salesperson is selling.</a:t>
            </a:r>
            <a:endParaRPr lang="en-US" sz="1500"/>
          </a:p>
          <a:p>
            <a:r>
              <a:rPr lang="en-US" sz="1500">
                <a:solidFill>
                  <a:srgbClr val="111827"/>
                </a:solidFill>
                <a:latin typeface="Arial"/>
              </a:rPr>
              <a:t>FoodIntel AI is positioned as a specialized AI Sales Intelligence Copilot for food-industry supplier sales teams. Its differentiation is category-specific prospect preparation, source attribution, competitor battlecards, product-fit scoring and post-meeting follow-up automation.</a:t>
            </a:r>
            <a:endParaRPr lang="en-US" sz="1500"/>
          </a:p>
        </p:txBody>
      </p:sp>
      <p:sp>
        <p:nvSpPr>
          <p:cNvPr id="11" name="Panel 11"/>
          <p:cNvSpPr/>
          <p:nvPr/>
        </p:nvSpPr>
        <p:spPr>
          <a:xfrm>
            <a:off x="640000" y="3350000"/>
            <a:ext cx="2500000" cy="1450000"/>
          </a:xfrm>
          <a:prstGeom prst="roundRect">
            <a:avLst/>
          </a:prstGeom>
          <a:solidFill>
            <a:srgbClr val="F9FAFB"/>
          </a:solidFill>
          <a:ln w="12700">
            <a:solidFill>
              <a:srgbClr val="E5E7EB"/>
            </a:solidFill>
          </a:ln>
        </p:spPr>
        <p:txBody>
          <a:bodyPr wrap="square" rtlCol="0" lIns="180000" tIns="140000" rIns="180000" bIns="140000"/>
          <a:lstStyle/>
          <a:p>
            <a:r>
              <a:rPr lang="en-US" sz="1500">
                <a:solidFill>
                  <a:srgbClr val="111827"/>
                </a:solidFill>
                <a:latin typeface="Arial"/>
              </a:rPr>
              <a:t>HubSpot / Salesforce</a:t>
            </a:r>
            <a:endParaRPr lang="en-US" sz="1500"/>
          </a:p>
          <a:p>
            <a:r>
              <a:rPr lang="en-US" sz="1500">
                <a:solidFill>
                  <a:srgbClr val="111827"/>
                </a:solidFill>
                <a:latin typeface="Arial"/>
              </a:rPr>
              <a:t>Strong CRM systems, but not food-industry-specific meeting intelligence.</a:t>
            </a:r>
            <a:endParaRPr lang="en-US" sz="1500"/>
          </a:p>
        </p:txBody>
      </p:sp>
      <p:sp>
        <p:nvSpPr>
          <p:cNvPr id="12" name="Panel 12"/>
          <p:cNvSpPr/>
          <p:nvPr/>
        </p:nvSpPr>
        <p:spPr>
          <a:xfrm>
            <a:off x="3360000" y="3350000"/>
            <a:ext cx="2500000" cy="1450000"/>
          </a:xfrm>
          <a:prstGeom prst="roundRect">
            <a:avLst/>
          </a:prstGeom>
          <a:solidFill>
            <a:srgbClr val="F9FAFB"/>
          </a:solidFill>
          <a:ln w="12700">
            <a:solidFill>
              <a:srgbClr val="E5E7EB"/>
            </a:solidFill>
          </a:ln>
        </p:spPr>
        <p:txBody>
          <a:bodyPr wrap="square" rtlCol="0" lIns="180000" tIns="140000" rIns="180000" bIns="140000"/>
          <a:lstStyle/>
          <a:p>
            <a:r>
              <a:rPr lang="en-US" sz="1500">
                <a:solidFill>
                  <a:srgbClr val="111827"/>
                </a:solidFill>
                <a:latin typeface="Arial"/>
              </a:rPr>
              <a:t>Apollo / Lead tools</a:t>
            </a:r>
            <a:endParaRPr lang="en-US" sz="1500"/>
          </a:p>
          <a:p>
            <a:r>
              <a:rPr lang="en-US" sz="1500">
                <a:solidFill>
                  <a:srgbClr val="111827"/>
                </a:solidFill>
                <a:latin typeface="Arial"/>
              </a:rPr>
              <a:t>Useful for prospecting, but weak on restaurant pain points, menu fit and meeting strategy.</a:t>
            </a:r>
            <a:endParaRPr lang="en-US" sz="1500"/>
          </a:p>
        </p:txBody>
      </p:sp>
      <p:sp>
        <p:nvSpPr>
          <p:cNvPr id="13" name="Panel 13"/>
          <p:cNvSpPr/>
          <p:nvPr/>
        </p:nvSpPr>
        <p:spPr>
          <a:xfrm>
            <a:off x="6080000" y="3350000"/>
            <a:ext cx="2500000" cy="1450000"/>
          </a:xfrm>
          <a:prstGeom prst="roundRect">
            <a:avLst/>
          </a:prstGeom>
          <a:solidFill>
            <a:srgbClr val="F9FAFB"/>
          </a:solidFill>
          <a:ln w="12700">
            <a:solidFill>
              <a:srgbClr val="E5E7EB"/>
            </a:solidFill>
          </a:ln>
        </p:spPr>
        <p:txBody>
          <a:bodyPr wrap="square" rtlCol="0" lIns="180000" tIns="140000" rIns="180000" bIns="140000"/>
          <a:lstStyle/>
          <a:p>
            <a:r>
              <a:rPr lang="en-US" sz="1500">
                <a:solidFill>
                  <a:srgbClr val="111827"/>
                </a:solidFill>
                <a:latin typeface="Arial"/>
              </a:rPr>
              <a:t>Generic AI chatbots</a:t>
            </a:r>
            <a:endParaRPr lang="en-US" sz="1500"/>
          </a:p>
          <a:p>
            <a:r>
              <a:rPr lang="en-US" sz="1500">
                <a:solidFill>
                  <a:srgbClr val="111827"/>
                </a:solidFill>
                <a:latin typeface="Arial"/>
              </a:rPr>
              <a:t>Can summarize text, but lack persistent prospect context and verified evidence.</a:t>
            </a:r>
            <a:endParaRPr lang="en-US" sz="1500"/>
          </a:p>
        </p:txBody>
      </p:sp>
      <p:sp>
        <p:nvSpPr>
          <p:cNvPr id="14" name="Panel 14"/>
          <p:cNvSpPr/>
          <p:nvPr/>
        </p:nvSpPr>
        <p:spPr>
          <a:xfrm>
            <a:off x="8800000" y="3350000"/>
            <a:ext cx="2740000" cy="1450000"/>
          </a:xfrm>
          <a:prstGeom prst="roundRect">
            <a:avLst/>
          </a:prstGeom>
          <a:solidFill>
            <a:srgbClr val="ECFDF5"/>
          </a:solidFill>
          <a:ln w="12700">
            <a:solidFill>
              <a:srgbClr val="10B981"/>
            </a:solidFill>
          </a:ln>
        </p:spPr>
        <p:txBody>
          <a:bodyPr wrap="square" rtlCol="0" lIns="180000" tIns="140000" rIns="180000" bIns="140000"/>
          <a:lstStyle/>
          <a:p>
            <a:r>
              <a:rPr lang="en-US" sz="1500">
                <a:solidFill>
                  <a:srgbClr val="111827"/>
                </a:solidFill>
                <a:latin typeface="Arial"/>
              </a:rPr>
              <a:t>FoodIntel AI</a:t>
            </a:r>
            <a:endParaRPr lang="en-US" sz="1500"/>
          </a:p>
          <a:p>
            <a:r>
              <a:rPr lang="en-US" sz="1500">
                <a:solidFill>
                  <a:srgbClr val="111827"/>
                </a:solidFill>
                <a:latin typeface="Arial"/>
              </a:rPr>
              <a:t>Focused on food-industry sales preparation with RAG, trust data and workflow continuity.</a:t>
            </a:r>
            <a:endParaRPr lang="en-US" sz="150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2 | FoodIntel AI</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How would you prioritize MVP features?</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Answer</a:t>
            </a:r>
            <a:endParaRPr lang="en-US" sz="1500"/>
          </a:p>
          <a:p>
            <a:r>
              <a:rPr lang="en-US" sz="1500">
                <a:solidFill>
                  <a:srgbClr val="111827"/>
                </a:solidFill>
                <a:latin typeface="Arial"/>
              </a:rPr>
              <a:t>MoSCoW prioritization was used to keep the MVP focused on the BITSoM problem statement: timely, contextual company insights before sales meetings. Must-have features directly reduce manual research and improve meeting readiness.</a:t>
            </a:r>
            <a:endParaRPr lang="en-US" sz="1500"/>
          </a:p>
        </p:txBody>
      </p:sp>
      <p:sp>
        <p:nvSpPr>
          <p:cNvPr id="11" name="Panel 11"/>
          <p:cNvSpPr/>
          <p:nvPr/>
        </p:nvSpPr>
        <p:spPr>
          <a:xfrm>
            <a:off x="640000" y="3200000"/>
            <a:ext cx="2500000" cy="1800000"/>
          </a:xfrm>
          <a:prstGeom prst="roundRect">
            <a:avLst/>
          </a:prstGeom>
          <a:solidFill>
            <a:srgbClr val="ECFDF5"/>
          </a:solidFill>
          <a:ln w="12700">
            <a:solidFill>
              <a:srgbClr val="10B981"/>
            </a:solidFill>
          </a:ln>
        </p:spPr>
        <p:txBody>
          <a:bodyPr wrap="square" rtlCol="0" lIns="180000" tIns="140000" rIns="180000" bIns="140000"/>
          <a:lstStyle/>
          <a:p>
            <a:r>
              <a:rPr lang="en-US" sz="1500">
                <a:solidFill>
                  <a:srgbClr val="111827"/>
                </a:solidFill>
                <a:latin typeface="Arial"/>
              </a:rPr>
              <a:t>Must Have</a:t>
            </a:r>
            <a:endParaRPr lang="en-US" sz="1500"/>
          </a:p>
          <a:p>
            <a:r>
              <a:rPr lang="en-US" sz="1500">
                <a:solidFill>
                  <a:srgbClr val="111827"/>
                </a:solidFill>
                <a:latin typeface="Arial"/>
              </a:rPr>
              <a:t>Category login</a:t>
            </a:r>
            <a:endParaRPr lang="en-US" sz="1500"/>
          </a:p>
          <a:p>
            <a:r>
              <a:rPr lang="en-US" sz="1500">
                <a:solidFill>
                  <a:srgbClr val="111827"/>
                </a:solidFill>
                <a:latin typeface="Arial"/>
              </a:rPr>
              <a:t>Active prospect context</a:t>
            </a:r>
            <a:endParaRPr lang="en-US" sz="1500"/>
          </a:p>
          <a:p>
            <a:r>
              <a:rPr lang="en-US" sz="1500">
                <a:solidFill>
                  <a:srgbClr val="111827"/>
                </a:solidFill>
                <a:latin typeface="Arial"/>
              </a:rPr>
              <a:t>Prospect Brief</a:t>
            </a:r>
            <a:endParaRPr lang="en-US" sz="1500"/>
          </a:p>
          <a:p>
            <a:r>
              <a:rPr lang="en-US" sz="1500">
                <a:solidFill>
                  <a:srgbClr val="111827"/>
                </a:solidFill>
                <a:latin typeface="Arial"/>
              </a:rPr>
              <a:t>Source Registry</a:t>
            </a:r>
            <a:endParaRPr lang="en-US" sz="1500"/>
          </a:p>
          <a:p>
            <a:r>
              <a:rPr lang="en-US" sz="1500">
                <a:solidFill>
                  <a:srgbClr val="111827"/>
                </a:solidFill>
                <a:latin typeface="Arial"/>
              </a:rPr>
              <a:t>AI Copilot</a:t>
            </a:r>
            <a:endParaRPr lang="en-US" sz="1500"/>
          </a:p>
          <a:p>
            <a:r>
              <a:rPr lang="en-US" sz="1500">
                <a:solidFill>
                  <a:srgbClr val="111827"/>
                </a:solidFill>
                <a:latin typeface="Arial"/>
              </a:rPr>
              <a:t>Follow-up Studio</a:t>
            </a:r>
            <a:endParaRPr lang="en-US" sz="1500"/>
          </a:p>
        </p:txBody>
      </p:sp>
      <p:sp>
        <p:nvSpPr>
          <p:cNvPr id="12" name="Panel 12"/>
          <p:cNvSpPr/>
          <p:nvPr/>
        </p:nvSpPr>
        <p:spPr>
          <a:xfrm>
            <a:off x="3360000" y="3200000"/>
            <a:ext cx="2500000" cy="1800000"/>
          </a:xfrm>
          <a:prstGeom prst="roundRect">
            <a:avLst/>
          </a:prstGeom>
          <a:solidFill>
            <a:srgbClr val="F5F3FF"/>
          </a:solidFill>
          <a:ln w="12700">
            <a:solidFill>
              <a:srgbClr val="DDD6FE"/>
            </a:solidFill>
          </a:ln>
        </p:spPr>
        <p:txBody>
          <a:bodyPr wrap="square" rtlCol="0" lIns="180000" tIns="140000" rIns="180000" bIns="140000"/>
          <a:lstStyle/>
          <a:p>
            <a:r>
              <a:rPr lang="en-US" sz="1500">
                <a:solidFill>
                  <a:srgbClr val="111827"/>
                </a:solidFill>
                <a:latin typeface="Arial"/>
              </a:rPr>
              <a:t>Should Have</a:t>
            </a:r>
            <a:endParaRPr lang="en-US" sz="1500"/>
          </a:p>
          <a:p>
            <a:r>
              <a:rPr lang="en-US" sz="1500">
                <a:solidFill>
                  <a:srgbClr val="111827"/>
                </a:solidFill>
                <a:latin typeface="Arial"/>
              </a:rPr>
              <a:t>Opportunity Radar</a:t>
            </a:r>
            <a:endParaRPr lang="en-US" sz="1500"/>
          </a:p>
          <a:p>
            <a:r>
              <a:rPr lang="en-US" sz="1500">
                <a:solidFill>
                  <a:srgbClr val="111827"/>
                </a:solidFill>
                <a:latin typeface="Arial"/>
              </a:rPr>
              <a:t>CRM Timeline</a:t>
            </a:r>
            <a:endParaRPr lang="en-US" sz="1500"/>
          </a:p>
          <a:p>
            <a:r>
              <a:rPr lang="en-US" sz="1500">
                <a:solidFill>
                  <a:srgbClr val="111827"/>
                </a:solidFill>
                <a:latin typeface="Arial"/>
              </a:rPr>
              <a:t>Competitor Battlecard</a:t>
            </a:r>
            <a:endParaRPr lang="en-US" sz="1500"/>
          </a:p>
          <a:p>
            <a:r>
              <a:rPr lang="en-US" sz="1500">
                <a:solidFill>
                  <a:srgbClr val="111827"/>
                </a:solidFill>
                <a:latin typeface="Arial"/>
              </a:rPr>
              <a:t>Pitch download</a:t>
            </a:r>
            <a:endParaRPr lang="en-US" sz="1500"/>
          </a:p>
          <a:p>
            <a:r>
              <a:rPr lang="en-US" sz="1500">
                <a:solidFill>
                  <a:srgbClr val="111827"/>
                </a:solidFill>
                <a:latin typeface="Arial"/>
              </a:rPr>
              <a:t>PostHog usage events</a:t>
            </a:r>
            <a:endParaRPr lang="en-US" sz="1500"/>
          </a:p>
        </p:txBody>
      </p:sp>
      <p:sp>
        <p:nvSpPr>
          <p:cNvPr id="13" name="Panel 13"/>
          <p:cNvSpPr/>
          <p:nvPr/>
        </p:nvSpPr>
        <p:spPr>
          <a:xfrm>
            <a:off x="6080000" y="3200000"/>
            <a:ext cx="2500000" cy="1800000"/>
          </a:xfrm>
          <a:prstGeom prst="roundRect">
            <a:avLst/>
          </a:prstGeom>
          <a:solidFill>
            <a:srgbClr val="FFFBEB"/>
          </a:solidFill>
          <a:ln w="12700">
            <a:solidFill>
              <a:srgbClr val="FDE68A"/>
            </a:solidFill>
          </a:ln>
        </p:spPr>
        <p:txBody>
          <a:bodyPr wrap="square" rtlCol="0" lIns="180000" tIns="140000" rIns="180000" bIns="140000"/>
          <a:lstStyle/>
          <a:p>
            <a:r>
              <a:rPr lang="en-US" sz="1500">
                <a:solidFill>
                  <a:srgbClr val="111827"/>
                </a:solidFill>
                <a:latin typeface="Arial"/>
              </a:rPr>
              <a:t>Could Have</a:t>
            </a:r>
            <a:endParaRPr lang="en-US" sz="1500"/>
          </a:p>
          <a:p>
            <a:r>
              <a:rPr lang="en-US" sz="1500">
                <a:solidFill>
                  <a:srgbClr val="111827"/>
                </a:solidFill>
                <a:latin typeface="Arial"/>
              </a:rPr>
              <a:t>Predictive deal scoring</a:t>
            </a:r>
            <a:endParaRPr lang="en-US" sz="1500"/>
          </a:p>
          <a:p>
            <a:r>
              <a:rPr lang="en-US" sz="1500">
                <a:solidFill>
                  <a:srgbClr val="111827"/>
                </a:solidFill>
                <a:latin typeface="Arial"/>
              </a:rPr>
              <a:t>Voice meeting assistant</a:t>
            </a:r>
            <a:endParaRPr lang="en-US" sz="1500"/>
          </a:p>
          <a:p>
            <a:r>
              <a:rPr lang="en-US" sz="1500">
                <a:solidFill>
                  <a:srgbClr val="111827"/>
                </a:solidFill>
                <a:latin typeface="Arial"/>
              </a:rPr>
              <a:t>Team analytics dashboard</a:t>
            </a:r>
            <a:endParaRPr lang="en-US" sz="1500"/>
          </a:p>
          <a:p>
            <a:r>
              <a:rPr lang="en-US" sz="1500">
                <a:solidFill>
                  <a:srgbClr val="111827"/>
                </a:solidFill>
                <a:latin typeface="Arial"/>
              </a:rPr>
              <a:t>Advanced route planning</a:t>
            </a:r>
            <a:endParaRPr lang="en-US" sz="1500"/>
          </a:p>
        </p:txBody>
      </p:sp>
      <p:sp>
        <p:nvSpPr>
          <p:cNvPr id="14" name="Panel 14"/>
          <p:cNvSpPr/>
          <p:nvPr/>
        </p:nvSpPr>
        <p:spPr>
          <a:xfrm>
            <a:off x="8800000" y="3200000"/>
            <a:ext cx="2740000" cy="1800000"/>
          </a:xfrm>
          <a:prstGeom prst="roundRect">
            <a:avLst/>
          </a:prstGeom>
          <a:solidFill>
            <a:srgbClr val="FEF2F2"/>
          </a:solidFill>
          <a:ln w="12700">
            <a:solidFill>
              <a:srgbClr val="FECACA"/>
            </a:solidFill>
          </a:ln>
        </p:spPr>
        <p:txBody>
          <a:bodyPr wrap="square" rtlCol="0" lIns="180000" tIns="140000" rIns="180000" bIns="140000"/>
          <a:lstStyle/>
          <a:p>
            <a:r>
              <a:rPr lang="en-US" sz="1500">
                <a:solidFill>
                  <a:srgbClr val="111827"/>
                </a:solidFill>
                <a:latin typeface="Arial"/>
              </a:rPr>
              <a:t>Won’t Have Now</a:t>
            </a:r>
            <a:endParaRPr lang="en-US" sz="1500"/>
          </a:p>
          <a:p>
            <a:r>
              <a:rPr lang="en-US" sz="1500">
                <a:solidFill>
                  <a:srgbClr val="111827"/>
                </a:solidFill>
                <a:latin typeface="Arial"/>
              </a:rPr>
              <a:t>Restaurant inventory management</a:t>
            </a:r>
            <a:endParaRPr lang="en-US" sz="1500"/>
          </a:p>
          <a:p>
            <a:r>
              <a:rPr lang="en-US" sz="1500">
                <a:solidFill>
                  <a:srgbClr val="111827"/>
                </a:solidFill>
                <a:latin typeface="Arial"/>
              </a:rPr>
              <a:t>Consumer food delivery features</a:t>
            </a:r>
            <a:endParaRPr lang="en-US" sz="1500"/>
          </a:p>
          <a:p>
            <a:r>
              <a:rPr lang="en-US" sz="1500">
                <a:solidFill>
                  <a:srgbClr val="111827"/>
                </a:solidFill>
                <a:latin typeface="Arial"/>
              </a:rPr>
              <a:t>Unverified live scraping</a:t>
            </a:r>
            <a:endParaRPr lang="en-US" sz="1500"/>
          </a:p>
          <a:p>
            <a:r>
              <a:rPr lang="en-US" sz="1500">
                <a:solidFill>
                  <a:srgbClr val="111827"/>
                </a:solidFill>
                <a:latin typeface="Arial"/>
              </a:rPr>
              <a:t>Unrelated operations dashboards</a:t>
            </a:r>
            <a:endParaRPr lang="en-US" sz="150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4A | FoodIntel AI</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Create a user journey for the product.</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Answer</a:t>
            </a:r>
            <a:endParaRPr lang="en-US" sz="1500"/>
          </a:p>
          <a:p>
            <a:r>
              <a:rPr lang="en-US" sz="1500">
                <a:solidFill>
                  <a:srgbClr val="111827"/>
                </a:solidFill>
                <a:latin typeface="Arial"/>
              </a:rPr>
              <a:t>The customer journey starts before the meeting and continues after the meeting. This is important because FoodIntel AI is not a restaurant analytics dashboard; it is a sales preparation and follow-up workflow for food-industry supplier reps.</a:t>
            </a:r>
            <a:endParaRPr lang="en-US" sz="1500"/>
          </a:p>
        </p:txBody>
      </p:sp>
      <p:sp>
        <p:nvSpPr>
          <p:cNvPr id="11" name="Panel 11"/>
          <p:cNvSpPr/>
          <p:nvPr/>
        </p:nvSpPr>
        <p:spPr>
          <a:xfrm>
            <a:off x="640000" y="3200000"/>
            <a:ext cx="2100000" cy="1550000"/>
          </a:xfrm>
          <a:prstGeom prst="roundRect">
            <a:avLst/>
          </a:prstGeom>
          <a:solidFill>
            <a:srgbClr val="F9FAFB"/>
          </a:solidFill>
          <a:ln w="12700">
            <a:solidFill>
              <a:srgbClr val="E5E7EB"/>
            </a:solidFill>
          </a:ln>
        </p:spPr>
        <p:txBody>
          <a:bodyPr wrap="square" rtlCol="0" lIns="180000" tIns="140000" rIns="180000" bIns="140000"/>
          <a:lstStyle/>
          <a:p>
            <a:r>
              <a:rPr lang="en-US" sz="1500">
                <a:solidFill>
                  <a:srgbClr val="111827"/>
                </a:solidFill>
                <a:latin typeface="Arial"/>
              </a:rPr>
              <a:t>Awareness</a:t>
            </a:r>
            <a:endParaRPr lang="en-US" sz="1500"/>
          </a:p>
          <a:p>
            <a:r>
              <a:rPr lang="en-US" sz="1500">
                <a:solidFill>
                  <a:srgbClr val="111827"/>
                </a:solidFill>
                <a:latin typeface="Arial"/>
              </a:rPr>
              <a:t>Sales manager sees demo or LinkedIn post about reducing manual research.</a:t>
            </a:r>
            <a:endParaRPr lang="en-US" sz="1500"/>
          </a:p>
        </p:txBody>
      </p:sp>
      <p:sp>
        <p:nvSpPr>
          <p:cNvPr id="12" name="Panel 12"/>
          <p:cNvSpPr/>
          <p:nvPr/>
        </p:nvSpPr>
        <p:spPr>
          <a:xfrm>
            <a:off x="2920000" y="3200000"/>
            <a:ext cx="2100000" cy="1550000"/>
          </a:xfrm>
          <a:prstGeom prst="roundRect">
            <a:avLst/>
          </a:prstGeom>
          <a:solidFill>
            <a:srgbClr val="F9FAFB"/>
          </a:solidFill>
          <a:ln w="12700">
            <a:solidFill>
              <a:srgbClr val="E5E7EB"/>
            </a:solidFill>
          </a:ln>
        </p:spPr>
        <p:txBody>
          <a:bodyPr wrap="square" rtlCol="0" lIns="180000" tIns="140000" rIns="180000" bIns="140000"/>
          <a:lstStyle/>
          <a:p>
            <a:r>
              <a:rPr lang="en-US" sz="1500">
                <a:solidFill>
                  <a:srgbClr val="111827"/>
                </a:solidFill>
                <a:latin typeface="Arial"/>
              </a:rPr>
              <a:t>Evaluation</a:t>
            </a:r>
            <a:endParaRPr lang="en-US" sz="1500"/>
          </a:p>
          <a:p>
            <a:r>
              <a:rPr lang="en-US" sz="1500">
                <a:solidFill>
                  <a:srgbClr val="111827"/>
                </a:solidFill>
                <a:latin typeface="Arial"/>
              </a:rPr>
              <a:t>Team reviews sample AI briefs and checks category-specific accuracy.</a:t>
            </a:r>
            <a:endParaRPr lang="en-US" sz="1500"/>
          </a:p>
        </p:txBody>
      </p:sp>
      <p:sp>
        <p:nvSpPr>
          <p:cNvPr id="13" name="Panel 13"/>
          <p:cNvSpPr/>
          <p:nvPr/>
        </p:nvSpPr>
        <p:spPr>
          <a:xfrm>
            <a:off x="5200000" y="3200000"/>
            <a:ext cx="2100000" cy="1550000"/>
          </a:xfrm>
          <a:prstGeom prst="roundRect">
            <a:avLst/>
          </a:prstGeom>
          <a:solidFill>
            <a:srgbClr val="F9FAFB"/>
          </a:solidFill>
          <a:ln w="12700">
            <a:solidFill>
              <a:srgbClr val="E5E7EB"/>
            </a:solidFill>
          </a:ln>
        </p:spPr>
        <p:txBody>
          <a:bodyPr wrap="square" rtlCol="0" lIns="180000" tIns="140000" rIns="180000" bIns="140000"/>
          <a:lstStyle/>
          <a:p>
            <a:r>
              <a:rPr lang="en-US" sz="1500">
                <a:solidFill>
                  <a:srgbClr val="111827"/>
                </a:solidFill>
                <a:latin typeface="Arial"/>
              </a:rPr>
              <a:t>Onboarding</a:t>
            </a:r>
            <a:endParaRPr lang="en-US" sz="1500"/>
          </a:p>
          <a:p>
            <a:r>
              <a:rPr lang="en-US" sz="1500">
                <a:solidFill>
                  <a:srgbClr val="111827"/>
                </a:solidFill>
                <a:latin typeface="Arial"/>
              </a:rPr>
              <a:t>Seller category, products, areas and prospects are configured.</a:t>
            </a:r>
            <a:endParaRPr lang="en-US" sz="1500"/>
          </a:p>
        </p:txBody>
      </p:sp>
      <p:sp>
        <p:nvSpPr>
          <p:cNvPr id="14" name="Panel 14"/>
          <p:cNvSpPr/>
          <p:nvPr/>
        </p:nvSpPr>
        <p:spPr>
          <a:xfrm>
            <a:off x="7480000" y="3200000"/>
            <a:ext cx="2100000" cy="1550000"/>
          </a:xfrm>
          <a:prstGeom prst="roundRect">
            <a:avLst/>
          </a:prstGeom>
          <a:solidFill>
            <a:srgbClr val="ECFDF5"/>
          </a:solidFill>
          <a:ln w="12700">
            <a:solidFill>
              <a:srgbClr val="10B981"/>
            </a:solidFill>
          </a:ln>
        </p:spPr>
        <p:txBody>
          <a:bodyPr wrap="square" rtlCol="0" lIns="180000" tIns="140000" rIns="180000" bIns="140000"/>
          <a:lstStyle/>
          <a:p>
            <a:r>
              <a:rPr lang="en-US" sz="1500">
                <a:solidFill>
                  <a:srgbClr val="111827"/>
                </a:solidFill>
                <a:latin typeface="Arial"/>
              </a:rPr>
              <a:t>Usage</a:t>
            </a:r>
            <a:endParaRPr lang="en-US" sz="1500"/>
          </a:p>
          <a:p>
            <a:r>
              <a:rPr lang="en-US" sz="1500">
                <a:solidFill>
                  <a:srgbClr val="111827"/>
                </a:solidFill>
                <a:latin typeface="Arial"/>
              </a:rPr>
              <a:t>Rep opens Command Center, studies Prospect Brief, asks Copilot and downloads pitch.</a:t>
            </a:r>
            <a:endParaRPr lang="en-US" sz="1500"/>
          </a:p>
        </p:txBody>
      </p:sp>
      <p:sp>
        <p:nvSpPr>
          <p:cNvPr id="15" name="Panel 15"/>
          <p:cNvSpPr/>
          <p:nvPr/>
        </p:nvSpPr>
        <p:spPr>
          <a:xfrm>
            <a:off x="9760000" y="3200000"/>
            <a:ext cx="1780000" cy="1550000"/>
          </a:xfrm>
          <a:prstGeom prst="roundRect">
            <a:avLst/>
          </a:prstGeom>
          <a:solidFill>
            <a:srgbClr val="F5F3FF"/>
          </a:solidFill>
          <a:ln w="12700">
            <a:solidFill>
              <a:srgbClr val="DDD6FE"/>
            </a:solidFill>
          </a:ln>
        </p:spPr>
        <p:txBody>
          <a:bodyPr wrap="square" rtlCol="0" lIns="180000" tIns="140000" rIns="180000" bIns="140000"/>
          <a:lstStyle/>
          <a:p>
            <a:r>
              <a:rPr lang="en-US" sz="1500">
                <a:solidFill>
                  <a:srgbClr val="111827"/>
                </a:solidFill>
                <a:latin typeface="Arial"/>
              </a:rPr>
              <a:t>Renewal</a:t>
            </a:r>
            <a:endParaRPr lang="en-US" sz="1500"/>
          </a:p>
          <a:p>
            <a:r>
              <a:rPr lang="en-US" sz="1500">
                <a:solidFill>
                  <a:srgbClr val="111827"/>
                </a:solidFill>
                <a:latin typeface="Arial"/>
              </a:rPr>
              <a:t>Manager sees prep time saved, briefs generated and follow-up consistency.</a:t>
            </a:r>
            <a:endParaRPr lang="en-US" sz="150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3 | FoodIntel AI</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What ethical and AI governance risks must be considered?</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Answer</a:t>
            </a:r>
            <a:endParaRPr lang="en-US" sz="1500"/>
          </a:p>
          <a:p>
            <a:r>
              <a:rPr lang="en-US" sz="1500">
                <a:solidFill>
                  <a:srgbClr val="111827"/>
                </a:solidFill>
                <a:latin typeface="Arial"/>
              </a:rPr>
              <a:t>Because FoodIntel AI supports revenue conversations, recommendations must be explainable and verifiable. The product should not make unsupported claims about a prospect, competitor or supplier. Every major insight therefore carries source, timestamp, confidence and why-this-matters text.</a:t>
            </a:r>
            <a:endParaRPr lang="en-US" sz="1500"/>
          </a:p>
        </p:txBody>
      </p:sp>
      <p:sp>
        <p:nvSpPr>
          <p:cNvPr id="11" name="Panel 11"/>
          <p:cNvSpPr/>
          <p:nvPr/>
        </p:nvSpPr>
        <p:spPr>
          <a:xfrm>
            <a:off x="640000" y="3240000"/>
            <a:ext cx="2600000" cy="1650000"/>
          </a:xfrm>
          <a:prstGeom prst="roundRect">
            <a:avLst/>
          </a:prstGeom>
          <a:solidFill>
            <a:srgbClr val="FEF2F2"/>
          </a:solidFill>
          <a:ln w="12700">
            <a:solidFill>
              <a:srgbClr val="FECACA"/>
            </a:solidFill>
          </a:ln>
        </p:spPr>
        <p:txBody>
          <a:bodyPr wrap="square" rtlCol="0" lIns="180000" tIns="140000" rIns="180000" bIns="140000"/>
          <a:lstStyle/>
          <a:p>
            <a:r>
              <a:rPr lang="en-US" sz="1500">
                <a:solidFill>
                  <a:srgbClr val="111827"/>
                </a:solidFill>
                <a:latin typeface="Arial"/>
              </a:rPr>
              <a:t>Hallucination Risk</a:t>
            </a:r>
            <a:endParaRPr lang="en-US" sz="1500"/>
          </a:p>
          <a:p>
            <a:r>
              <a:rPr lang="en-US" sz="1500">
                <a:solidFill>
                  <a:srgbClr val="111827"/>
                </a:solidFill>
                <a:latin typeface="Arial"/>
              </a:rPr>
              <a:t>Reduced through source registry, raw signal feed and confidence scores.</a:t>
            </a:r>
            <a:endParaRPr lang="en-US" sz="1500"/>
          </a:p>
        </p:txBody>
      </p:sp>
      <p:sp>
        <p:nvSpPr>
          <p:cNvPr id="12" name="Panel 12"/>
          <p:cNvSpPr/>
          <p:nvPr/>
        </p:nvSpPr>
        <p:spPr>
          <a:xfrm>
            <a:off x="3500000" y="3240000"/>
            <a:ext cx="2600000" cy="1650000"/>
          </a:xfrm>
          <a:prstGeom prst="roundRect">
            <a:avLst/>
          </a:prstGeom>
          <a:solidFill>
            <a:srgbClr val="FFFBEB"/>
          </a:solidFill>
          <a:ln w="12700">
            <a:solidFill>
              <a:srgbClr val="FDE68A"/>
            </a:solidFill>
          </a:ln>
        </p:spPr>
        <p:txBody>
          <a:bodyPr wrap="square" rtlCol="0" lIns="180000" tIns="140000" rIns="180000" bIns="140000"/>
          <a:lstStyle/>
          <a:p>
            <a:r>
              <a:rPr lang="en-US" sz="1500">
                <a:solidFill>
                  <a:srgbClr val="111827"/>
                </a:solidFill>
                <a:latin typeface="Arial"/>
              </a:rPr>
              <a:t>Privacy Risk</a:t>
            </a:r>
            <a:endParaRPr lang="en-US" sz="1500"/>
          </a:p>
          <a:p>
            <a:r>
              <a:rPr lang="en-US" sz="1500">
                <a:solidFill>
                  <a:srgbClr val="111827"/>
                </a:solidFill>
                <a:latin typeface="Arial"/>
              </a:rPr>
              <a:t>Production version should use authentication, access control and CRM data minimization.</a:t>
            </a:r>
            <a:endParaRPr lang="en-US" sz="1500"/>
          </a:p>
        </p:txBody>
      </p:sp>
      <p:sp>
        <p:nvSpPr>
          <p:cNvPr id="13" name="Panel 13"/>
          <p:cNvSpPr/>
          <p:nvPr/>
        </p:nvSpPr>
        <p:spPr>
          <a:xfrm>
            <a:off x="6360000" y="3240000"/>
            <a:ext cx="2600000" cy="1650000"/>
          </a:xfrm>
          <a:prstGeom prst="roundRect">
            <a:avLst/>
          </a:prstGeom>
          <a:solidFill>
            <a:srgbClr val="F5F3FF"/>
          </a:solidFill>
          <a:ln w="12700">
            <a:solidFill>
              <a:srgbClr val="DDD6FE"/>
            </a:solidFill>
          </a:ln>
        </p:spPr>
        <p:txBody>
          <a:bodyPr wrap="square" rtlCol="0" lIns="180000" tIns="140000" rIns="180000" bIns="140000"/>
          <a:lstStyle/>
          <a:p>
            <a:r>
              <a:rPr lang="en-US" sz="1500">
                <a:solidFill>
                  <a:srgbClr val="111827"/>
                </a:solidFill>
                <a:latin typeface="Arial"/>
              </a:rPr>
              <a:t>Bias Risk</a:t>
            </a:r>
            <a:endParaRPr lang="en-US" sz="1500"/>
          </a:p>
          <a:p>
            <a:r>
              <a:rPr lang="en-US" sz="1500">
                <a:solidFill>
                  <a:srgbClr val="111827"/>
                </a:solidFill>
                <a:latin typeface="Arial"/>
              </a:rPr>
              <a:t>Signals should be validated across multiple sources before ranking prospects.</a:t>
            </a:r>
            <a:endParaRPr lang="en-US" sz="1500"/>
          </a:p>
        </p:txBody>
      </p:sp>
      <p:sp>
        <p:nvSpPr>
          <p:cNvPr id="14" name="Panel 14"/>
          <p:cNvSpPr/>
          <p:nvPr/>
        </p:nvSpPr>
        <p:spPr>
          <a:xfrm>
            <a:off x="9220000" y="3240000"/>
            <a:ext cx="2320000" cy="1650000"/>
          </a:xfrm>
          <a:prstGeom prst="roundRect">
            <a:avLst/>
          </a:prstGeom>
          <a:solidFill>
            <a:srgbClr val="ECFDF5"/>
          </a:solidFill>
          <a:ln w="12700">
            <a:solidFill>
              <a:srgbClr val="10B981"/>
            </a:solidFill>
          </a:ln>
        </p:spPr>
        <p:txBody>
          <a:bodyPr wrap="square" rtlCol="0" lIns="180000" tIns="140000" rIns="180000" bIns="140000"/>
          <a:lstStyle/>
          <a:p>
            <a:r>
              <a:rPr lang="en-US" sz="1500">
                <a:solidFill>
                  <a:srgbClr val="111827"/>
                </a:solidFill>
                <a:latin typeface="Arial"/>
              </a:rPr>
              <a:t>Human Oversight</a:t>
            </a:r>
            <a:endParaRPr lang="en-US" sz="1500"/>
          </a:p>
          <a:p>
            <a:r>
              <a:rPr lang="en-US" sz="1500">
                <a:solidFill>
                  <a:srgbClr val="111827"/>
                </a:solidFill>
                <a:latin typeface="Arial"/>
              </a:rPr>
              <a:t>AI suggests; sales reps verify before using claims in meetings.</a:t>
            </a:r>
            <a:endParaRPr lang="en-US" sz="150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1 | FoodIntel AI</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What are the unit economics?</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Answer</a:t>
            </a:r>
            <a:endParaRPr lang="en-US" sz="1500"/>
          </a:p>
          <a:p>
            <a:r>
              <a:rPr lang="en-US" sz="1500">
                <a:solidFill>
                  <a:srgbClr val="111827"/>
                </a:solidFill>
                <a:latin typeface="Arial"/>
              </a:rPr>
              <a:t>The unit economics are SaaS-driven. Revenue comes from per-user, team and enterprise plans. The main cost drivers are AI model usage, external data/API costs, Supabase hosting, product engineering, onboarding and customer support.</a:t>
            </a:r>
            <a:endParaRPr lang="en-US" sz="1500"/>
          </a:p>
          <a:p>
            <a:r>
              <a:rPr lang="en-US" sz="1500">
                <a:solidFill>
                  <a:srgbClr val="111827"/>
                </a:solidFill>
                <a:latin typeface="Arial"/>
              </a:rPr>
              <a:t>The economic logic improves as teams scale because one shared prospect database, category catalog and AI workflow can serve many reps within the same organization.</a:t>
            </a:r>
            <a:endParaRPr lang="en-US" sz="1500"/>
          </a:p>
        </p:txBody>
      </p:sp>
      <p:sp>
        <p:nvSpPr>
          <p:cNvPr id="11" name="Panel 11"/>
          <p:cNvSpPr/>
          <p:nvPr/>
        </p:nvSpPr>
        <p:spPr>
          <a:xfrm>
            <a:off x="640000" y="3350000"/>
            <a:ext cx="3300000" cy="1450000"/>
          </a:xfrm>
          <a:prstGeom prst="roundRect">
            <a:avLst/>
          </a:prstGeom>
          <a:solidFill>
            <a:srgbClr val="ECFDF5"/>
          </a:solidFill>
          <a:ln w="12700">
            <a:solidFill>
              <a:srgbClr val="10B981"/>
            </a:solidFill>
          </a:ln>
        </p:spPr>
        <p:txBody>
          <a:bodyPr wrap="square" rtlCol="0" lIns="180000" tIns="140000" rIns="180000" bIns="140000"/>
          <a:lstStyle/>
          <a:p>
            <a:r>
              <a:rPr lang="en-US" sz="1500">
                <a:solidFill>
                  <a:srgbClr val="111827"/>
                </a:solidFill>
                <a:latin typeface="Arial"/>
              </a:rPr>
              <a:t>Revenue Levers</a:t>
            </a:r>
            <a:endParaRPr lang="en-US" sz="1500"/>
          </a:p>
          <a:p>
            <a:r>
              <a:rPr lang="en-US" sz="1500">
                <a:solidFill>
                  <a:srgbClr val="111827"/>
                </a:solidFill>
                <a:latin typeface="Arial"/>
              </a:rPr>
              <a:t>Monthly subscriptions, enterprise plans, CRM integrations, live API credits and advanced audit logs.</a:t>
            </a:r>
            <a:endParaRPr lang="en-US" sz="1500"/>
          </a:p>
        </p:txBody>
      </p:sp>
      <p:sp>
        <p:nvSpPr>
          <p:cNvPr id="12" name="Panel 12"/>
          <p:cNvSpPr/>
          <p:nvPr/>
        </p:nvSpPr>
        <p:spPr>
          <a:xfrm>
            <a:off x="4280000" y="3350000"/>
            <a:ext cx="3300000" cy="1450000"/>
          </a:xfrm>
          <a:prstGeom prst="roundRect">
            <a:avLst/>
          </a:prstGeom>
          <a:solidFill>
            <a:srgbClr val="FFFBEB"/>
          </a:solidFill>
          <a:ln w="12700">
            <a:solidFill>
              <a:srgbClr val="FDE68A"/>
            </a:solidFill>
          </a:ln>
        </p:spPr>
        <p:txBody>
          <a:bodyPr wrap="square" rtlCol="0" lIns="180000" tIns="140000" rIns="180000" bIns="140000"/>
          <a:lstStyle/>
          <a:p>
            <a:r>
              <a:rPr lang="en-US" sz="1500">
                <a:solidFill>
                  <a:srgbClr val="111827"/>
                </a:solidFill>
                <a:latin typeface="Arial"/>
              </a:rPr>
              <a:t>Cost Drivers</a:t>
            </a:r>
            <a:endParaRPr lang="en-US" sz="1500"/>
          </a:p>
          <a:p>
            <a:r>
              <a:rPr lang="en-US" sz="1500">
                <a:solidFill>
                  <a:srgbClr val="111827"/>
                </a:solidFill>
                <a:latin typeface="Arial"/>
              </a:rPr>
              <a:t>AI usage, data enrichment, hosting, customer support, onboarding and sales.</a:t>
            </a:r>
            <a:endParaRPr lang="en-US" sz="1500"/>
          </a:p>
        </p:txBody>
      </p:sp>
      <p:sp>
        <p:nvSpPr>
          <p:cNvPr id="13" name="Panel 13"/>
          <p:cNvSpPr/>
          <p:nvPr/>
        </p:nvSpPr>
        <p:spPr>
          <a:xfrm>
            <a:off x="7920000" y="3350000"/>
            <a:ext cx="3620000" cy="1450000"/>
          </a:xfrm>
          <a:prstGeom prst="roundRect">
            <a:avLst/>
          </a:prstGeom>
          <a:solidFill>
            <a:srgbClr val="F5F3FF"/>
          </a:solidFill>
          <a:ln w="12700">
            <a:solidFill>
              <a:srgbClr val="DDD6FE"/>
            </a:solidFill>
          </a:ln>
        </p:spPr>
        <p:txBody>
          <a:bodyPr wrap="square" rtlCol="0" lIns="180000" tIns="140000" rIns="180000" bIns="140000"/>
          <a:lstStyle/>
          <a:p>
            <a:r>
              <a:rPr lang="en-US" sz="1500">
                <a:solidFill>
                  <a:srgbClr val="111827"/>
                </a:solidFill>
                <a:latin typeface="Arial"/>
              </a:rPr>
              <a:t>Scale Advantage</a:t>
            </a:r>
            <a:endParaRPr lang="en-US" sz="1500"/>
          </a:p>
          <a:p>
            <a:r>
              <a:rPr lang="en-US" sz="1500">
                <a:solidFill>
                  <a:srgbClr val="111827"/>
                </a:solidFill>
                <a:latin typeface="Arial"/>
              </a:rPr>
              <a:t>Reusable category intelligence and shared data pipelines improve margins as more reps use the platform.</a:t>
            </a:r>
            <a:endParaRPr lang="en-US" sz="150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4A | FoodIntel AI</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What is the go-to-market strategy?</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Answer</a:t>
            </a:r>
            <a:endParaRPr lang="en-US" sz="1500"/>
          </a:p>
          <a:p>
            <a:r>
              <a:rPr lang="en-US" sz="1500">
                <a:solidFill>
                  <a:srgbClr val="111827"/>
                </a:solidFill>
                <a:latin typeface="Arial"/>
              </a:rPr>
              <a:t>The launch should start with a focused B2B pilot, not a broad public launch. The best beachhead is supplier-side sales teams in packaging and ingredients because their meetings depend heavily on restaurant menus, delivery pain points, supplier comparison and purchase timing.</a:t>
            </a:r>
            <a:endParaRPr lang="en-US" sz="1500"/>
          </a:p>
        </p:txBody>
      </p:sp>
      <p:sp>
        <p:nvSpPr>
          <p:cNvPr id="11" name="Panel 11"/>
          <p:cNvSpPr/>
          <p:nvPr/>
        </p:nvSpPr>
        <p:spPr>
          <a:xfrm>
            <a:off x="640000" y="3200000"/>
            <a:ext cx="2500000" cy="1700000"/>
          </a:xfrm>
          <a:prstGeom prst="roundRect">
            <a:avLst/>
          </a:prstGeom>
          <a:solidFill>
            <a:srgbClr val="ECFDF5"/>
          </a:solidFill>
          <a:ln w="12700">
            <a:solidFill>
              <a:srgbClr val="10B981"/>
            </a:solidFill>
          </a:ln>
        </p:spPr>
        <p:txBody>
          <a:bodyPr wrap="square" rtlCol="0" lIns="180000" tIns="140000" rIns="180000" bIns="140000"/>
          <a:lstStyle/>
          <a:p>
            <a:r>
              <a:rPr lang="en-US" sz="1500">
                <a:solidFill>
                  <a:srgbClr val="111827"/>
                </a:solidFill>
                <a:latin typeface="Arial"/>
              </a:rPr>
              <a:t>Pilot</a:t>
            </a:r>
            <a:endParaRPr lang="en-US" sz="1500"/>
          </a:p>
          <a:p>
            <a:r>
              <a:rPr lang="en-US" sz="1500">
                <a:solidFill>
                  <a:srgbClr val="111827"/>
                </a:solidFill>
                <a:latin typeface="Arial"/>
              </a:rPr>
              <a:t>10 reps, 2 categories, 1 city. Measure prep time saved and meeting readiness.</a:t>
            </a:r>
            <a:endParaRPr lang="en-US" sz="1500"/>
          </a:p>
        </p:txBody>
      </p:sp>
      <p:sp>
        <p:nvSpPr>
          <p:cNvPr id="12" name="Panel 12"/>
          <p:cNvSpPr/>
          <p:nvPr/>
        </p:nvSpPr>
        <p:spPr>
          <a:xfrm>
            <a:off x="3360000" y="3200000"/>
            <a:ext cx="2500000" cy="1700000"/>
          </a:xfrm>
          <a:prstGeom prst="roundRect">
            <a:avLst/>
          </a:prstGeom>
          <a:solidFill>
            <a:srgbClr val="F5F3FF"/>
          </a:solidFill>
          <a:ln w="12700">
            <a:solidFill>
              <a:srgbClr val="DDD6FE"/>
            </a:solidFill>
          </a:ln>
        </p:spPr>
        <p:txBody>
          <a:bodyPr wrap="square" rtlCol="0" lIns="180000" tIns="140000" rIns="180000" bIns="140000"/>
          <a:lstStyle/>
          <a:p>
            <a:r>
              <a:rPr lang="en-US" sz="1500">
                <a:solidFill>
                  <a:srgbClr val="111827"/>
                </a:solidFill>
                <a:latin typeface="Arial"/>
              </a:rPr>
              <a:t>Acquisition</a:t>
            </a:r>
            <a:endParaRPr lang="en-US" sz="1500"/>
          </a:p>
          <a:p>
            <a:r>
              <a:rPr lang="en-US" sz="1500">
                <a:solidFill>
                  <a:srgbClr val="111827"/>
                </a:solidFill>
                <a:latin typeface="Arial"/>
              </a:rPr>
              <a:t>Founder-led demos, LinkedIn outreach, supplier associations and CRM partner referrals.</a:t>
            </a:r>
            <a:endParaRPr lang="en-US" sz="1500"/>
          </a:p>
        </p:txBody>
      </p:sp>
      <p:sp>
        <p:nvSpPr>
          <p:cNvPr id="13" name="Panel 13"/>
          <p:cNvSpPr/>
          <p:nvPr/>
        </p:nvSpPr>
        <p:spPr>
          <a:xfrm>
            <a:off x="6080000" y="3200000"/>
            <a:ext cx="2500000" cy="1700000"/>
          </a:xfrm>
          <a:prstGeom prst="roundRect">
            <a:avLst/>
          </a:prstGeom>
          <a:solidFill>
            <a:srgbClr val="FFFBEB"/>
          </a:solidFill>
          <a:ln w="12700">
            <a:solidFill>
              <a:srgbClr val="FDE68A"/>
            </a:solidFill>
          </a:ln>
        </p:spPr>
        <p:txBody>
          <a:bodyPr wrap="square" rtlCol="0" lIns="180000" tIns="140000" rIns="180000" bIns="140000"/>
          <a:lstStyle/>
          <a:p>
            <a:r>
              <a:rPr lang="en-US" sz="1500">
                <a:solidFill>
                  <a:srgbClr val="111827"/>
                </a:solidFill>
                <a:latin typeface="Arial"/>
              </a:rPr>
              <a:t>Activation</a:t>
            </a:r>
            <a:endParaRPr lang="en-US" sz="1500"/>
          </a:p>
          <a:p>
            <a:r>
              <a:rPr lang="en-US" sz="1500">
                <a:solidFill>
                  <a:srgbClr val="111827"/>
                </a:solidFill>
                <a:latin typeface="Arial"/>
              </a:rPr>
              <a:t>Upload products, choose seller category, select area, generate first prospect brief.</a:t>
            </a:r>
            <a:endParaRPr lang="en-US" sz="1500"/>
          </a:p>
        </p:txBody>
      </p:sp>
      <p:sp>
        <p:nvSpPr>
          <p:cNvPr id="14" name="Panel 14"/>
          <p:cNvSpPr/>
          <p:nvPr/>
        </p:nvSpPr>
        <p:spPr>
          <a:xfrm>
            <a:off x="8800000" y="3200000"/>
            <a:ext cx="2740000" cy="1700000"/>
          </a:xfrm>
          <a:prstGeom prst="roundRect">
            <a:avLst/>
          </a:prstGeom>
          <a:solidFill>
            <a:srgbClr val="F9FAFB"/>
          </a:solidFill>
          <a:ln w="12700">
            <a:solidFill>
              <a:srgbClr val="E5E7EB"/>
            </a:solidFill>
          </a:ln>
        </p:spPr>
        <p:txBody>
          <a:bodyPr wrap="square" rtlCol="0" lIns="180000" tIns="140000" rIns="180000" bIns="140000"/>
          <a:lstStyle/>
          <a:p>
            <a:r>
              <a:rPr lang="en-US" sz="1500">
                <a:solidFill>
                  <a:srgbClr val="111827"/>
                </a:solidFill>
                <a:latin typeface="Arial"/>
              </a:rPr>
              <a:t>Expansion</a:t>
            </a:r>
            <a:endParaRPr lang="en-US" sz="1500"/>
          </a:p>
          <a:p>
            <a:r>
              <a:rPr lang="en-US" sz="1500">
                <a:solidFill>
                  <a:srgbClr val="111827"/>
                </a:solidFill>
                <a:latin typeface="Arial"/>
              </a:rPr>
              <a:t>Move from individual reps to team dashboards, CRM sync and enterprise accounts.</a:t>
            </a:r>
            <a:endParaRPr lang="en-US" sz="150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4A | FoodIntel AI</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What is the customer acquisition funnel?</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Answer</a:t>
            </a:r>
            <a:endParaRPr lang="en-US" sz="1500"/>
          </a:p>
          <a:p>
            <a:r>
              <a:rPr lang="en-US" sz="1500">
                <a:solidFill>
                  <a:srgbClr val="111827"/>
                </a:solidFill>
                <a:latin typeface="Arial"/>
              </a:rPr>
              <a:t>The funnel should be designed around proof of sales productivity. FoodIntel AI should not sell only an AI feature; it should sell measurable reduction in manual research time and better meeting preparation quality.</a:t>
            </a:r>
            <a:endParaRPr lang="en-US" sz="1500"/>
          </a:p>
        </p:txBody>
      </p:sp>
      <p:sp>
        <p:nvSpPr>
          <p:cNvPr id="11" name="Panel 11"/>
          <p:cNvSpPr/>
          <p:nvPr/>
        </p:nvSpPr>
        <p:spPr>
          <a:xfrm>
            <a:off x="640000" y="3300000"/>
            <a:ext cx="2100000" cy="1400000"/>
          </a:xfrm>
          <a:prstGeom prst="roundRect">
            <a:avLst/>
          </a:prstGeom>
          <a:solidFill>
            <a:srgbClr val="F9FAFB"/>
          </a:solidFill>
          <a:ln w="12700">
            <a:solidFill>
              <a:srgbClr val="E5E7EB"/>
            </a:solidFill>
          </a:ln>
        </p:spPr>
        <p:txBody>
          <a:bodyPr wrap="square" rtlCol="0" lIns="180000" tIns="140000" rIns="180000" bIns="140000"/>
          <a:lstStyle/>
          <a:p>
            <a:r>
              <a:rPr lang="en-US" sz="1500">
                <a:solidFill>
                  <a:srgbClr val="111827"/>
                </a:solidFill>
                <a:latin typeface="Arial"/>
              </a:rPr>
              <a:t>Awareness</a:t>
            </a:r>
            <a:endParaRPr lang="en-US" sz="1500"/>
          </a:p>
          <a:p>
            <a:r>
              <a:rPr lang="en-US" sz="1500">
                <a:solidFill>
                  <a:srgbClr val="111827"/>
                </a:solidFill>
                <a:latin typeface="Arial"/>
              </a:rPr>
              <a:t>LinkedIn posts, founder demos and food-tech referrals.</a:t>
            </a:r>
            <a:endParaRPr lang="en-US" sz="1500"/>
          </a:p>
        </p:txBody>
      </p:sp>
      <p:sp>
        <p:nvSpPr>
          <p:cNvPr id="12" name="Panel 12"/>
          <p:cNvSpPr/>
          <p:nvPr/>
        </p:nvSpPr>
        <p:spPr>
          <a:xfrm>
            <a:off x="2920000" y="3300000"/>
            <a:ext cx="2100000" cy="1400000"/>
          </a:xfrm>
          <a:prstGeom prst="roundRect">
            <a:avLst/>
          </a:prstGeom>
          <a:solidFill>
            <a:srgbClr val="F9FAFB"/>
          </a:solidFill>
          <a:ln w="12700">
            <a:solidFill>
              <a:srgbClr val="E5E7EB"/>
            </a:solidFill>
          </a:ln>
        </p:spPr>
        <p:txBody>
          <a:bodyPr wrap="square" rtlCol="0" lIns="180000" tIns="140000" rIns="180000" bIns="140000"/>
          <a:lstStyle/>
          <a:p>
            <a:r>
              <a:rPr lang="en-US" sz="1500">
                <a:solidFill>
                  <a:srgbClr val="111827"/>
                </a:solidFill>
                <a:latin typeface="Arial"/>
              </a:rPr>
              <a:t>Demo</a:t>
            </a:r>
            <a:endParaRPr lang="en-US" sz="1500"/>
          </a:p>
          <a:p>
            <a:r>
              <a:rPr lang="en-US" sz="1500">
                <a:solidFill>
                  <a:srgbClr val="111827"/>
                </a:solidFill>
                <a:latin typeface="Arial"/>
              </a:rPr>
              <a:t>Show a live prospect brief for a known restaurant account.</a:t>
            </a:r>
            <a:endParaRPr lang="en-US" sz="1500"/>
          </a:p>
        </p:txBody>
      </p:sp>
      <p:sp>
        <p:nvSpPr>
          <p:cNvPr id="13" name="Panel 13"/>
          <p:cNvSpPr/>
          <p:nvPr/>
        </p:nvSpPr>
        <p:spPr>
          <a:xfrm>
            <a:off x="5200000" y="3300000"/>
            <a:ext cx="2100000" cy="1400000"/>
          </a:xfrm>
          <a:prstGeom prst="roundRect">
            <a:avLst/>
          </a:prstGeom>
          <a:solidFill>
            <a:srgbClr val="ECFDF5"/>
          </a:solidFill>
          <a:ln w="12700">
            <a:solidFill>
              <a:srgbClr val="10B981"/>
            </a:solidFill>
          </a:ln>
        </p:spPr>
        <p:txBody>
          <a:bodyPr wrap="square" rtlCol="0" lIns="180000" tIns="140000" rIns="180000" bIns="140000"/>
          <a:lstStyle/>
          <a:p>
            <a:r>
              <a:rPr lang="en-US" sz="1500">
                <a:solidFill>
                  <a:srgbClr val="111827"/>
                </a:solidFill>
                <a:latin typeface="Arial"/>
              </a:rPr>
              <a:t>Trial</a:t>
            </a:r>
            <a:endParaRPr lang="en-US" sz="1500"/>
          </a:p>
          <a:p>
            <a:r>
              <a:rPr lang="en-US" sz="1500">
                <a:solidFill>
                  <a:srgbClr val="111827"/>
                </a:solidFill>
                <a:latin typeface="Arial"/>
              </a:rPr>
              <a:t>Let reps prepare for 5–10 real meetings using FoodIntel.</a:t>
            </a:r>
            <a:endParaRPr lang="en-US" sz="1500"/>
          </a:p>
        </p:txBody>
      </p:sp>
      <p:sp>
        <p:nvSpPr>
          <p:cNvPr id="14" name="Panel 14"/>
          <p:cNvSpPr/>
          <p:nvPr/>
        </p:nvSpPr>
        <p:spPr>
          <a:xfrm>
            <a:off x="7480000" y="3300000"/>
            <a:ext cx="2100000" cy="1400000"/>
          </a:xfrm>
          <a:prstGeom prst="roundRect">
            <a:avLst/>
          </a:prstGeom>
          <a:solidFill>
            <a:srgbClr val="F5F3FF"/>
          </a:solidFill>
          <a:ln w="12700">
            <a:solidFill>
              <a:srgbClr val="DDD6FE"/>
            </a:solidFill>
          </a:ln>
        </p:spPr>
        <p:txBody>
          <a:bodyPr wrap="square" rtlCol="0" lIns="180000" tIns="140000" rIns="180000" bIns="140000"/>
          <a:lstStyle/>
          <a:p>
            <a:r>
              <a:rPr lang="en-US" sz="1500">
                <a:solidFill>
                  <a:srgbClr val="111827"/>
                </a:solidFill>
                <a:latin typeface="Arial"/>
              </a:rPr>
              <a:t>Team Adoption</a:t>
            </a:r>
            <a:endParaRPr lang="en-US" sz="1500"/>
          </a:p>
          <a:p>
            <a:r>
              <a:rPr lang="en-US" sz="1500">
                <a:solidFill>
                  <a:srgbClr val="111827"/>
                </a:solidFill>
                <a:latin typeface="Arial"/>
              </a:rPr>
              <a:t>Manager sees usage, pitch downloads and follow-up completion.</a:t>
            </a:r>
            <a:endParaRPr lang="en-US" sz="1500"/>
          </a:p>
        </p:txBody>
      </p:sp>
      <p:sp>
        <p:nvSpPr>
          <p:cNvPr id="15" name="Panel 15"/>
          <p:cNvSpPr/>
          <p:nvPr/>
        </p:nvSpPr>
        <p:spPr>
          <a:xfrm>
            <a:off x="9760000" y="3300000"/>
            <a:ext cx="1780000" cy="1400000"/>
          </a:xfrm>
          <a:prstGeom prst="roundRect">
            <a:avLst/>
          </a:prstGeom>
          <a:solidFill>
            <a:srgbClr val="FFFBEB"/>
          </a:solidFill>
          <a:ln w="12700">
            <a:solidFill>
              <a:srgbClr val="FDE68A"/>
            </a:solidFill>
          </a:ln>
        </p:spPr>
        <p:txBody>
          <a:bodyPr wrap="square" rtlCol="0" lIns="180000" tIns="140000" rIns="180000" bIns="140000"/>
          <a:lstStyle/>
          <a:p>
            <a:r>
              <a:rPr lang="en-US" sz="1500">
                <a:solidFill>
                  <a:srgbClr val="111827"/>
                </a:solidFill>
                <a:latin typeface="Arial"/>
              </a:rPr>
              <a:t>Renewal</a:t>
            </a:r>
            <a:endParaRPr lang="en-US" sz="1500"/>
          </a:p>
          <a:p>
            <a:r>
              <a:rPr lang="en-US" sz="1500">
                <a:solidFill>
                  <a:srgbClr val="111827"/>
                </a:solidFill>
                <a:latin typeface="Arial"/>
              </a:rPr>
              <a:t>Renew based on time saved and conversion improvement.</a:t>
            </a:r>
            <a:endParaRPr lang="en-US" sz="150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4A | FoodIntel AI</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Create a user flow for the product.</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Answer</a:t>
            </a:r>
            <a:endParaRPr lang="en-US" sz="1500"/>
          </a:p>
          <a:p>
            <a:r>
              <a:rPr lang="en-US" sz="1500">
                <a:solidFill>
                  <a:srgbClr val="111827"/>
                </a:solidFill>
                <a:latin typeface="Arial"/>
              </a:rPr>
              <a:t>The final user flow is built around one coherent narrative: help a food-industry sales rep prepare before a meeting, use the insight during the meeting and complete follow-up after the meeting.</a:t>
            </a:r>
            <a:endParaRPr lang="en-US" sz="1500"/>
          </a:p>
        </p:txBody>
      </p:sp>
      <p:sp>
        <p:nvSpPr>
          <p:cNvPr id="11" name="Panel 11"/>
          <p:cNvSpPr/>
          <p:nvPr/>
        </p:nvSpPr>
        <p:spPr>
          <a:xfrm>
            <a:off x="640000" y="3200000"/>
            <a:ext cx="2600000" cy="1700000"/>
          </a:xfrm>
          <a:prstGeom prst="roundRect">
            <a:avLst/>
          </a:prstGeom>
          <a:solidFill>
            <a:srgbClr val="ECFDF5"/>
          </a:solidFill>
          <a:ln w="12700">
            <a:solidFill>
              <a:srgbClr val="10B981"/>
            </a:solidFill>
          </a:ln>
        </p:spPr>
        <p:txBody>
          <a:bodyPr wrap="square" rtlCol="0" lIns="180000" tIns="140000" rIns="180000" bIns="140000"/>
          <a:lstStyle/>
          <a:p>
            <a:r>
              <a:rPr lang="en-US" sz="1500">
                <a:solidFill>
                  <a:srgbClr val="111827"/>
                </a:solidFill>
                <a:latin typeface="Arial"/>
              </a:rPr>
              <a:t>Before Meeting</a:t>
            </a:r>
            <a:endParaRPr lang="en-US" sz="1500"/>
          </a:p>
          <a:p>
            <a:r>
              <a:rPr lang="en-US" sz="1500">
                <a:solidFill>
                  <a:srgbClr val="111827"/>
                </a:solidFill>
                <a:latin typeface="Arial"/>
              </a:rPr>
              <a:t>Login by category → Select area → Select prospect → Review Command Center → Open Prospect Brief.</a:t>
            </a:r>
            <a:endParaRPr lang="en-US" sz="1500"/>
          </a:p>
        </p:txBody>
      </p:sp>
      <p:sp>
        <p:nvSpPr>
          <p:cNvPr id="12" name="Panel 12"/>
          <p:cNvSpPr/>
          <p:nvPr/>
        </p:nvSpPr>
        <p:spPr>
          <a:xfrm>
            <a:off x="3500000" y="3200000"/>
            <a:ext cx="2600000" cy="1700000"/>
          </a:xfrm>
          <a:prstGeom prst="roundRect">
            <a:avLst/>
          </a:prstGeom>
          <a:solidFill>
            <a:srgbClr val="F5F3FF"/>
          </a:solidFill>
          <a:ln w="12700">
            <a:solidFill>
              <a:srgbClr val="DDD6FE"/>
            </a:solidFill>
          </a:ln>
        </p:spPr>
        <p:txBody>
          <a:bodyPr wrap="square" rtlCol="0" lIns="180000" tIns="140000" rIns="180000" bIns="140000"/>
          <a:lstStyle/>
          <a:p>
            <a:r>
              <a:rPr lang="en-US" sz="1500">
                <a:solidFill>
                  <a:srgbClr val="111827"/>
                </a:solidFill>
                <a:latin typeface="Arial"/>
              </a:rPr>
              <a:t>During Prep</a:t>
            </a:r>
            <a:endParaRPr lang="en-US" sz="1500"/>
          </a:p>
          <a:p>
            <a:r>
              <a:rPr lang="en-US" sz="1500">
                <a:solidFill>
                  <a:srgbClr val="111827"/>
                </a:solidFill>
                <a:latin typeface="Arial"/>
              </a:rPr>
              <a:t>Check what changed → Review sources → Study competitor battlecard → Ask AI Copilot → Download pitch.</a:t>
            </a:r>
            <a:endParaRPr lang="en-US" sz="1500"/>
          </a:p>
        </p:txBody>
      </p:sp>
      <p:sp>
        <p:nvSpPr>
          <p:cNvPr id="13" name="Panel 13"/>
          <p:cNvSpPr/>
          <p:nvPr/>
        </p:nvSpPr>
        <p:spPr>
          <a:xfrm>
            <a:off x="6360000" y="3200000"/>
            <a:ext cx="2600000" cy="1700000"/>
          </a:xfrm>
          <a:prstGeom prst="roundRect">
            <a:avLst/>
          </a:prstGeom>
          <a:solidFill>
            <a:srgbClr val="FFFBEB"/>
          </a:solidFill>
          <a:ln w="12700">
            <a:solidFill>
              <a:srgbClr val="FDE68A"/>
            </a:solidFill>
          </a:ln>
        </p:spPr>
        <p:txBody>
          <a:bodyPr wrap="square" rtlCol="0" lIns="180000" tIns="140000" rIns="180000" bIns="140000"/>
          <a:lstStyle/>
          <a:p>
            <a:r>
              <a:rPr lang="en-US" sz="1500">
                <a:solidFill>
                  <a:srgbClr val="111827"/>
                </a:solidFill>
                <a:latin typeface="Arial"/>
              </a:rPr>
              <a:t>After Meeting</a:t>
            </a:r>
            <a:endParaRPr lang="en-US" sz="1500"/>
          </a:p>
          <a:p>
            <a:r>
              <a:rPr lang="en-US" sz="1500">
                <a:solidFill>
                  <a:srgbClr val="111827"/>
                </a:solidFill>
                <a:latin typeface="Arial"/>
              </a:rPr>
              <a:t>Generate follow-up email → Save CRM note → Create next tasks → Update memory layer.</a:t>
            </a:r>
            <a:endParaRPr lang="en-US" sz="1500"/>
          </a:p>
        </p:txBody>
      </p:sp>
      <p:sp>
        <p:nvSpPr>
          <p:cNvPr id="14" name="Panel 14"/>
          <p:cNvSpPr/>
          <p:nvPr/>
        </p:nvSpPr>
        <p:spPr>
          <a:xfrm>
            <a:off x="9220000" y="3200000"/>
            <a:ext cx="2320000" cy="1700000"/>
          </a:xfrm>
          <a:prstGeom prst="roundRect">
            <a:avLst/>
          </a:prstGeom>
          <a:solidFill>
            <a:srgbClr val="F9FAFB"/>
          </a:solidFill>
          <a:ln w="12700">
            <a:solidFill>
              <a:srgbClr val="E5E7EB"/>
            </a:solidFill>
          </a:ln>
        </p:spPr>
        <p:txBody>
          <a:bodyPr wrap="square" rtlCol="0" lIns="180000" tIns="140000" rIns="180000" bIns="140000"/>
          <a:lstStyle/>
          <a:p>
            <a:r>
              <a:rPr lang="en-US" sz="1500">
                <a:solidFill>
                  <a:srgbClr val="111827"/>
                </a:solidFill>
                <a:latin typeface="Arial"/>
              </a:rPr>
              <a:t>Continuity</a:t>
            </a:r>
            <a:endParaRPr lang="en-US" sz="1500"/>
          </a:p>
          <a:p>
            <a:r>
              <a:rPr lang="en-US" sz="1500">
                <a:solidFill>
                  <a:srgbClr val="111827"/>
                </a:solidFill>
                <a:latin typeface="Arial"/>
              </a:rPr>
              <a:t>The same active prospect and seller category remain consistent across every page.</a:t>
            </a:r>
            <a:endParaRPr lang="en-US" sz="150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3 | FoodIntel AI</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How will the architecture scale in production?</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Answer</a:t>
            </a:r>
            <a:endParaRPr lang="en-US" sz="1500"/>
          </a:p>
          <a:p>
            <a:r>
              <a:rPr lang="en-US" sz="1500">
                <a:solidFill>
                  <a:srgbClr val="111827"/>
                </a:solidFill>
                <a:latin typeface="Arial"/>
              </a:rPr>
              <a:t>The MVP proves the workflow using structured backend data and proxy signals. The production architecture would add live data connectors, vector search, async agents, stronger audit logs and enterprise observability while preserving the same frontend workflow.</a:t>
            </a:r>
            <a:endParaRPr lang="en-US" sz="1500"/>
          </a:p>
        </p:txBody>
      </p:sp>
      <p:sp>
        <p:nvSpPr>
          <p:cNvPr id="11" name="Panel 11"/>
          <p:cNvSpPr/>
          <p:nvPr/>
        </p:nvSpPr>
        <p:spPr>
          <a:xfrm>
            <a:off x="640000" y="3200000"/>
            <a:ext cx="2500000" cy="1750000"/>
          </a:xfrm>
          <a:prstGeom prst="roundRect">
            <a:avLst/>
          </a:prstGeom>
          <a:solidFill>
            <a:srgbClr val="ECFDF5"/>
          </a:solidFill>
          <a:ln w="12700">
            <a:solidFill>
              <a:srgbClr val="10B981"/>
            </a:solidFill>
          </a:ln>
        </p:spPr>
        <p:txBody>
          <a:bodyPr wrap="square" rtlCol="0" lIns="180000" tIns="140000" rIns="180000" bIns="140000"/>
          <a:lstStyle/>
          <a:p>
            <a:r>
              <a:rPr lang="en-US" sz="1500">
                <a:solidFill>
                  <a:srgbClr val="111827"/>
                </a:solidFill>
                <a:latin typeface="Arial"/>
              </a:rPr>
              <a:t>Data Scale</a:t>
            </a:r>
            <a:endParaRPr lang="en-US" sz="1500"/>
          </a:p>
          <a:p>
            <a:r>
              <a:rPr lang="en-US" sz="1500">
                <a:solidFill>
                  <a:srgbClr val="111827"/>
                </a:solidFill>
                <a:latin typeface="Arial"/>
              </a:rPr>
              <a:t>Supabase tables for prospects, meetings, raw signals, source registry, insight audit logs and CRM memory.</a:t>
            </a:r>
            <a:endParaRPr lang="en-US" sz="1500"/>
          </a:p>
        </p:txBody>
      </p:sp>
      <p:sp>
        <p:nvSpPr>
          <p:cNvPr id="12" name="Panel 12"/>
          <p:cNvSpPr/>
          <p:nvPr/>
        </p:nvSpPr>
        <p:spPr>
          <a:xfrm>
            <a:off x="3360000" y="3200000"/>
            <a:ext cx="2500000" cy="1750000"/>
          </a:xfrm>
          <a:prstGeom prst="roundRect">
            <a:avLst/>
          </a:prstGeom>
          <a:solidFill>
            <a:srgbClr val="F5F3FF"/>
          </a:solidFill>
          <a:ln w="12700">
            <a:solidFill>
              <a:srgbClr val="DDD6FE"/>
            </a:solidFill>
          </a:ln>
        </p:spPr>
        <p:txBody>
          <a:bodyPr wrap="square" rtlCol="0" lIns="180000" tIns="140000" rIns="180000" bIns="140000"/>
          <a:lstStyle/>
          <a:p>
            <a:r>
              <a:rPr lang="en-US" sz="1500">
                <a:solidFill>
                  <a:srgbClr val="111827"/>
                </a:solidFill>
                <a:latin typeface="Arial"/>
              </a:rPr>
              <a:t>RAG Scale</a:t>
            </a:r>
            <a:endParaRPr lang="en-US" sz="1500"/>
          </a:p>
          <a:p>
            <a:r>
              <a:rPr lang="en-US" sz="1500">
                <a:solidFill>
                  <a:srgbClr val="111827"/>
                </a:solidFill>
                <a:latin typeface="Arial"/>
              </a:rPr>
              <a:t>Vector search can retrieve relevant account, category, competitor and review evidence.</a:t>
            </a:r>
            <a:endParaRPr lang="en-US" sz="1500"/>
          </a:p>
        </p:txBody>
      </p:sp>
      <p:sp>
        <p:nvSpPr>
          <p:cNvPr id="13" name="Panel 13"/>
          <p:cNvSpPr/>
          <p:nvPr/>
        </p:nvSpPr>
        <p:spPr>
          <a:xfrm>
            <a:off x="6080000" y="3200000"/>
            <a:ext cx="2500000" cy="1750000"/>
          </a:xfrm>
          <a:prstGeom prst="roundRect">
            <a:avLst/>
          </a:prstGeom>
          <a:solidFill>
            <a:srgbClr val="FFFBEB"/>
          </a:solidFill>
          <a:ln w="12700">
            <a:solidFill>
              <a:srgbClr val="FDE68A"/>
            </a:solidFill>
          </a:ln>
        </p:spPr>
        <p:txBody>
          <a:bodyPr wrap="square" rtlCol="0" lIns="180000" tIns="140000" rIns="180000" bIns="140000"/>
          <a:lstStyle/>
          <a:p>
            <a:r>
              <a:rPr lang="en-US" sz="1500">
                <a:solidFill>
                  <a:srgbClr val="111827"/>
                </a:solidFill>
                <a:latin typeface="Arial"/>
              </a:rPr>
              <a:t>Agent Scale</a:t>
            </a:r>
            <a:endParaRPr lang="en-US" sz="1500"/>
          </a:p>
          <a:p>
            <a:r>
              <a:rPr lang="en-US" sz="1500">
                <a:solidFill>
                  <a:srgbClr val="111827"/>
                </a:solidFill>
                <a:latin typeface="Arial"/>
              </a:rPr>
              <a:t>Async research, review, news, competitor, ranking and follow-up agents reduce manual work.</a:t>
            </a:r>
            <a:endParaRPr lang="en-US" sz="1500"/>
          </a:p>
        </p:txBody>
      </p:sp>
      <p:sp>
        <p:nvSpPr>
          <p:cNvPr id="14" name="Panel 14"/>
          <p:cNvSpPr/>
          <p:nvPr/>
        </p:nvSpPr>
        <p:spPr>
          <a:xfrm>
            <a:off x="8800000" y="3200000"/>
            <a:ext cx="2740000" cy="1750000"/>
          </a:xfrm>
          <a:prstGeom prst="roundRect">
            <a:avLst/>
          </a:prstGeom>
          <a:solidFill>
            <a:srgbClr val="F9FAFB"/>
          </a:solidFill>
          <a:ln w="12700">
            <a:solidFill>
              <a:srgbClr val="E5E7EB"/>
            </a:solidFill>
          </a:ln>
        </p:spPr>
        <p:txBody>
          <a:bodyPr wrap="square" rtlCol="0" lIns="180000" tIns="140000" rIns="180000" bIns="140000"/>
          <a:lstStyle/>
          <a:p>
            <a:r>
              <a:rPr lang="en-US" sz="1500">
                <a:solidFill>
                  <a:srgbClr val="111827"/>
                </a:solidFill>
                <a:latin typeface="Arial"/>
              </a:rPr>
              <a:t>Trust Scale</a:t>
            </a:r>
            <a:endParaRPr lang="en-US" sz="1500"/>
          </a:p>
          <a:p>
            <a:r>
              <a:rPr lang="en-US" sz="1500">
                <a:solidFill>
                  <a:srgbClr val="111827"/>
                </a:solidFill>
                <a:latin typeface="Arial"/>
              </a:rPr>
              <a:t>Source timestamps, confidence scores and audit logs support enterprise adoption.</a:t>
            </a:r>
            <a:endParaRPr lang="en-US" sz="150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1 | Experimental Task</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Appendix: What raw problem signals were collected?</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Experimental Task Answer</a:t>
            </a:r>
            <a:endParaRPr lang="en-US" sz="1500"/>
          </a:p>
          <a:p>
            <a:r>
              <a:rPr lang="en-US" sz="1500">
                <a:solidFill>
                  <a:srgbClr val="111827"/>
                </a:solidFill>
                <a:latin typeface="Arial"/>
              </a:rPr>
              <a:t>The raw problem signals were collected to show that the selected problem is real: sales teams and food businesses operate with scattered information, inconsistent reviews, unclear supplier fit and manual research before decisions.</a:t>
            </a:r>
            <a:endParaRPr lang="en-US" sz="1500"/>
          </a:p>
          <a:p>
            <a:r>
              <a:rPr lang="en-US" sz="1500">
                <a:solidFill>
                  <a:srgbClr val="111827"/>
                </a:solidFill>
                <a:latin typeface="Arial"/>
              </a:rPr>
              <a:t>Sources include Google Reviews, food delivery/review platforms, LinkedIn comments, app store-style complaints, customer support-style complaints and public business listing observations. These are mapped into FoodIntel features rather than copied as generic complaints.</a:t>
            </a:r>
            <a:endParaRPr lang="en-US" sz="1500"/>
          </a:p>
        </p:txBody>
      </p:sp>
      <p:sp>
        <p:nvSpPr>
          <p:cNvPr id="11" name="Panel 11"/>
          <p:cNvSpPr/>
          <p:nvPr/>
        </p:nvSpPr>
        <p:spPr>
          <a:xfrm>
            <a:off x="640000" y="3450000"/>
            <a:ext cx="3300000" cy="1450000"/>
          </a:xfrm>
          <a:prstGeom prst="roundRect">
            <a:avLst/>
          </a:prstGeom>
          <a:solidFill>
            <a:srgbClr val="F5F3FF"/>
          </a:solidFill>
          <a:ln w="12700">
            <a:solidFill>
              <a:srgbClr val="DDD6FE"/>
            </a:solidFill>
          </a:ln>
        </p:spPr>
        <p:txBody>
          <a:bodyPr wrap="square" rtlCol="0" lIns="180000" tIns="140000" rIns="180000" bIns="140000"/>
          <a:lstStyle/>
          <a:p>
            <a:r>
              <a:rPr lang="en-US" sz="1500">
                <a:solidFill>
                  <a:srgbClr val="111827"/>
                </a:solidFill>
                <a:latin typeface="Arial"/>
              </a:rPr>
              <a:t>Signal Categories</a:t>
            </a:r>
            <a:endParaRPr lang="en-US" sz="1500"/>
          </a:p>
          <a:p>
            <a:r>
              <a:rPr lang="en-US" sz="1500">
                <a:solidFill>
                  <a:srgbClr val="111827"/>
                </a:solidFill>
                <a:latin typeface="Arial"/>
              </a:rPr>
              <a:t>Scattered account data, poor delivery packaging, generic vendor pitches, supplier uncertainty and weak follow-up tracking.</a:t>
            </a:r>
            <a:endParaRPr lang="en-US" sz="1500"/>
          </a:p>
        </p:txBody>
      </p:sp>
      <p:sp>
        <p:nvSpPr>
          <p:cNvPr id="12" name="Panel 12"/>
          <p:cNvSpPr/>
          <p:nvPr/>
        </p:nvSpPr>
        <p:spPr>
          <a:xfrm>
            <a:off x="4280000" y="3450000"/>
            <a:ext cx="3300000" cy="1450000"/>
          </a:xfrm>
          <a:prstGeom prst="roundRect">
            <a:avLst/>
          </a:prstGeom>
          <a:solidFill>
            <a:srgbClr val="ECFDF5"/>
          </a:solidFill>
          <a:ln w="12700">
            <a:solidFill>
              <a:srgbClr val="10B981"/>
            </a:solidFill>
          </a:ln>
        </p:spPr>
        <p:txBody>
          <a:bodyPr wrap="square" rtlCol="0" lIns="180000" tIns="140000" rIns="180000" bIns="140000"/>
          <a:lstStyle/>
          <a:p>
            <a:r>
              <a:rPr lang="en-US" sz="1500">
                <a:solidFill>
                  <a:srgbClr val="111827"/>
                </a:solidFill>
                <a:latin typeface="Arial"/>
              </a:rPr>
              <a:t>Why Included</a:t>
            </a:r>
            <a:endParaRPr lang="en-US" sz="1500"/>
          </a:p>
          <a:p>
            <a:r>
              <a:rPr lang="en-US" sz="1500">
                <a:solidFill>
                  <a:srgbClr val="111827"/>
                </a:solidFill>
                <a:latin typeface="Arial"/>
              </a:rPr>
              <a:t>The task supports the product problem: sales reps need faster, contextual and trusted pre-meeting intelligence.</a:t>
            </a:r>
            <a:endParaRPr lang="en-US" sz="1500"/>
          </a:p>
        </p:txBody>
      </p:sp>
      <p:sp>
        <p:nvSpPr>
          <p:cNvPr id="13" name="Panel 13"/>
          <p:cNvSpPr/>
          <p:nvPr/>
        </p:nvSpPr>
        <p:spPr>
          <a:xfrm>
            <a:off x="7920000" y="3450000"/>
            <a:ext cx="3620000" cy="1450000"/>
          </a:xfrm>
          <a:prstGeom prst="roundRect">
            <a:avLst/>
          </a:prstGeom>
          <a:solidFill>
            <a:srgbClr val="FFFBEB"/>
          </a:solidFill>
          <a:ln w="12700">
            <a:solidFill>
              <a:srgbClr val="FDE68A"/>
            </a:solidFill>
          </a:ln>
        </p:spPr>
        <p:txBody>
          <a:bodyPr wrap="square" rtlCol="0" lIns="180000" tIns="140000" rIns="180000" bIns="140000"/>
          <a:lstStyle/>
          <a:p>
            <a:r>
              <a:rPr lang="en-US" sz="1500">
                <a:solidFill>
                  <a:srgbClr val="111827"/>
                </a:solidFill>
                <a:latin typeface="Arial"/>
              </a:rPr>
              <a:t>Feature Mapping</a:t>
            </a:r>
            <a:endParaRPr lang="en-US" sz="1500"/>
          </a:p>
          <a:p>
            <a:r>
              <a:rPr lang="en-US" sz="1500">
                <a:solidFill>
                  <a:srgbClr val="111827"/>
                </a:solidFill>
                <a:latin typeface="Arial"/>
              </a:rPr>
              <a:t>Each signal maps to Prospect Brief, Product Match Intelligence, Source Registry, AI Copilot or Follow-up Studio.</a:t>
            </a:r>
            <a:endParaRPr lang="en-US" sz="150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12192000" cy="165000"/>
          </a:xfrm>
          <a:prstGeom prst="rect">
            <a:avLst/>
          </a:prstGeom>
          <a:solidFill>
            <a:srgbClr val="5B21B6"/>
          </a:solidFill>
        </p:spPr>
        <p:txBody>
          <a:bodyPr/>
          <a:lstStyle/>
          <a:p/>
        </p:txBody>
      </p:sp>
      <p:sp>
        <p:nvSpPr>
          <p:cNvPr id="3" name="Text 3"/>
          <p:cNvSpPr txBox="1"/>
          <p:nvPr/>
        </p:nvSpPr>
        <p:spPr>
          <a:xfrm>
            <a:off x="640000" y="360000"/>
            <a:ext cx="10850000" cy="390000"/>
          </a:xfrm>
          <a:prstGeom prst="rect">
            <a:avLst/>
          </a:prstGeom>
          <a:noFill/>
        </p:spPr>
        <p:txBody>
          <a:bodyPr wrap="square" rtlCol="0"/>
          <a:lstStyle/>
          <a:p>
            <a:r>
              <a:rPr lang="en-US" sz="1800" b="1">
                <a:solidFill>
                  <a:srgbClr val="6D28D9"/>
                </a:solidFill>
                <a:latin typeface="Arial"/>
              </a:rPr>
              <a:t>Project Submission Phase 1 | Experimental Task</a:t>
            </a:r>
            <a:endParaRPr lang="en-US" sz="1800"/>
          </a:p>
        </p:txBody>
      </p:sp>
      <p:sp>
        <p:nvSpPr>
          <p:cNvPr id="4" name="Text 4"/>
          <p:cNvSpPr txBox="1"/>
          <p:nvPr/>
        </p:nvSpPr>
        <p:spPr>
          <a:xfrm>
            <a:off x="640000" y="780000"/>
            <a:ext cx="10850000" cy="520000"/>
          </a:xfrm>
          <a:prstGeom prst="rect">
            <a:avLst/>
          </a:prstGeom>
          <a:noFill/>
        </p:spPr>
        <p:txBody>
          <a:bodyPr wrap="square" rtlCol="0"/>
          <a:lstStyle/>
          <a:p>
            <a:r>
              <a:rPr lang="en-US" sz="3000" b="1">
                <a:solidFill>
                  <a:srgbClr val="111827"/>
                </a:solidFill>
                <a:latin typeface="Arial"/>
              </a:rPr>
              <a:t>How do raw problem signals map to FoodIntel AI features?</a:t>
            </a:r>
            <a:endParaRPr lang="en-US" sz="3000"/>
          </a:p>
        </p:txBody>
      </p:sp>
      <p:sp>
        <p:nvSpPr>
          <p:cNvPr id="10" name="Panel 10"/>
          <p:cNvSpPr/>
          <p:nvPr/>
        </p:nvSpPr>
        <p:spPr>
          <a:xfrm>
            <a:off x="640000" y="1500000"/>
            <a:ext cx="10900000" cy="1450000"/>
          </a:xfrm>
          <a:prstGeom prst="roundRect">
            <a:avLst/>
          </a:prstGeom>
          <a:solidFill>
            <a:srgbClr val="F9FAFB"/>
          </a:solidFill>
          <a:ln w="12700">
            <a:solidFill>
              <a:srgbClr val="DDD6FE"/>
            </a:solidFill>
          </a:ln>
        </p:spPr>
        <p:txBody>
          <a:bodyPr wrap="square" rtlCol="0" lIns="180000" tIns="140000" rIns="180000" bIns="140000"/>
          <a:lstStyle/>
          <a:p>
            <a:r>
              <a:rPr lang="en-US" sz="1500">
                <a:solidFill>
                  <a:srgbClr val="111827"/>
                </a:solidFill>
                <a:latin typeface="Arial"/>
              </a:rPr>
              <a:t>Experimental Task Answer</a:t>
            </a:r>
            <a:endParaRPr lang="en-US" sz="1500"/>
          </a:p>
          <a:p>
            <a:r>
              <a:rPr lang="en-US" sz="1500">
                <a:solidFill>
                  <a:srgbClr val="111827"/>
                </a:solidFill>
                <a:latin typeface="Arial"/>
              </a:rPr>
              <a:t>The mapping below converts raw observations into product decisions. This is important because the project does not stop at listing complaints; it translates evidence into MVP features.</a:t>
            </a:r>
            <a:endParaRPr lang="en-US" sz="1500"/>
          </a:p>
        </p:txBody>
      </p:sp>
      <p:sp>
        <p:nvSpPr>
          <p:cNvPr id="11" name="Panel 11"/>
          <p:cNvSpPr/>
          <p:nvPr/>
        </p:nvSpPr>
        <p:spPr>
          <a:xfrm>
            <a:off x="640000" y="3000000"/>
            <a:ext cx="5200000" cy="2300000"/>
          </a:xfrm>
          <a:prstGeom prst="roundRect">
            <a:avLst/>
          </a:prstGeom>
          <a:solidFill>
            <a:srgbClr val="F9FAFB"/>
          </a:solidFill>
          <a:ln w="12700">
            <a:solidFill>
              <a:srgbClr val="E5E7EB"/>
            </a:solidFill>
          </a:ln>
        </p:spPr>
        <p:txBody>
          <a:bodyPr wrap="square" rtlCol="0" lIns="180000" tIns="140000" rIns="180000" bIns="140000"/>
          <a:lstStyle/>
          <a:p>
            <a:r>
              <a:rPr lang="en-US" sz="1350">
                <a:solidFill>
                  <a:srgbClr val="111827"/>
                </a:solidFill>
                <a:latin typeface="Arial"/>
              </a:rPr>
              <a:t>Raw Signal → Pain Point</a:t>
            </a:r>
            <a:endParaRPr lang="en-US" sz="1350"/>
          </a:p>
          <a:p>
            <a:r>
              <a:rPr lang="en-US" sz="1350">
                <a:solidFill>
                  <a:srgbClr val="111827"/>
                </a:solidFill>
                <a:latin typeface="Arial"/>
              </a:rPr>
              <a:t>Generic supplier pitches → Lack of contextual understanding</a:t>
            </a:r>
            <a:endParaRPr lang="en-US" sz="1350"/>
          </a:p>
          <a:p>
            <a:r>
              <a:rPr lang="en-US" sz="1350">
                <a:solidFill>
                  <a:srgbClr val="111827"/>
                </a:solidFill>
                <a:latin typeface="Arial"/>
              </a:rPr>
              <a:t>Packaging spills in reviews → Need for category-specific pain detection</a:t>
            </a:r>
            <a:endParaRPr lang="en-US" sz="1350"/>
          </a:p>
          <a:p>
            <a:r>
              <a:rPr lang="en-US" sz="1350">
                <a:solidFill>
                  <a:srgbClr val="111827"/>
                </a:solidFill>
                <a:latin typeface="Arial"/>
              </a:rPr>
              <a:t>Manual checking across Google/menu/social → Research time loss</a:t>
            </a:r>
            <a:endParaRPr lang="en-US" sz="1350"/>
          </a:p>
          <a:p>
            <a:r>
              <a:rPr lang="en-US" sz="1350">
                <a:solidFill>
                  <a:srgbClr val="111827"/>
                </a:solidFill>
                <a:latin typeface="Arial"/>
              </a:rPr>
              <a:t>Unclear current supplier → Competitor discovery gap</a:t>
            </a:r>
            <a:endParaRPr lang="en-US" sz="1350"/>
          </a:p>
          <a:p>
            <a:r>
              <a:rPr lang="en-US" sz="1350">
                <a:solidFill>
                  <a:srgbClr val="111827"/>
                </a:solidFill>
                <a:latin typeface="Arial"/>
              </a:rPr>
              <a:t>Lost WhatsApp follow-ups → CRM memory gap</a:t>
            </a:r>
            <a:endParaRPr lang="en-US" sz="1350"/>
          </a:p>
        </p:txBody>
      </p:sp>
      <p:sp>
        <p:nvSpPr>
          <p:cNvPr id="12" name="Panel 12"/>
          <p:cNvSpPr/>
          <p:nvPr/>
        </p:nvSpPr>
        <p:spPr>
          <a:xfrm>
            <a:off x="6220000" y="3000000"/>
            <a:ext cx="5320000" cy="2300000"/>
          </a:xfrm>
          <a:prstGeom prst="roundRect">
            <a:avLst/>
          </a:prstGeom>
          <a:solidFill>
            <a:srgbClr val="ECFDF5"/>
          </a:solidFill>
          <a:ln w="12700">
            <a:solidFill>
              <a:srgbClr val="10B981"/>
            </a:solidFill>
          </a:ln>
        </p:spPr>
        <p:txBody>
          <a:bodyPr wrap="square" rtlCol="0" lIns="180000" tIns="140000" rIns="180000" bIns="140000"/>
          <a:lstStyle/>
          <a:p>
            <a:r>
              <a:rPr lang="en-US" sz="1350">
                <a:solidFill>
                  <a:srgbClr val="111827"/>
                </a:solidFill>
                <a:latin typeface="Arial"/>
              </a:rPr>
              <a:t>Mapped FoodIntel Feature</a:t>
            </a:r>
            <a:endParaRPr lang="en-US" sz="1350"/>
          </a:p>
          <a:p>
            <a:r>
              <a:rPr lang="en-US" sz="1350">
                <a:solidFill>
                  <a:srgbClr val="111827"/>
                </a:solidFill>
                <a:latin typeface="Arial"/>
              </a:rPr>
              <a:t>Prospect Brief</a:t>
            </a:r>
            <a:endParaRPr lang="en-US" sz="1350"/>
          </a:p>
          <a:p>
            <a:r>
              <a:rPr lang="en-US" sz="1350">
                <a:solidFill>
                  <a:srgbClr val="111827"/>
                </a:solidFill>
                <a:latin typeface="Arial"/>
              </a:rPr>
              <a:t>Product Match Intelligence</a:t>
            </a:r>
            <a:endParaRPr lang="en-US" sz="1350"/>
          </a:p>
          <a:p>
            <a:r>
              <a:rPr lang="en-US" sz="1350">
                <a:solidFill>
                  <a:srgbClr val="111827"/>
                </a:solidFill>
                <a:latin typeface="Arial"/>
              </a:rPr>
              <a:t>RAG + web/proxy-search Copilot</a:t>
            </a:r>
            <a:endParaRPr lang="en-US" sz="1350"/>
          </a:p>
          <a:p>
            <a:r>
              <a:rPr lang="en-US" sz="1350">
                <a:solidFill>
                  <a:srgbClr val="111827"/>
                </a:solidFill>
                <a:latin typeface="Arial"/>
              </a:rPr>
              <a:t>Competitor Battlecard</a:t>
            </a:r>
            <a:endParaRPr lang="en-US" sz="1350"/>
          </a:p>
          <a:p>
            <a:r>
              <a:rPr lang="en-US" sz="1350">
                <a:solidFill>
                  <a:srgbClr val="111827"/>
                </a:solidFill>
                <a:latin typeface="Arial"/>
              </a:rPr>
              <a:t>Follow-up Studio + CRM Timeline</a:t>
            </a:r>
            <a:endParaRPr lang="en-US" sz="1350"/>
          </a:p>
        </p:txBody>
      </p:sp>
      <p:sp>
        <p:nvSpPr>
          <p:cNvPr id="90" name="Text 90"/>
          <p:cNvSpPr txBox="1"/>
          <p:nvPr/>
        </p:nvSpPr>
        <p:spPr>
          <a:xfrm>
            <a:off x="640000" y="6540000"/>
            <a:ext cx="10850000" cy="260000"/>
          </a:xfrm>
          <a:prstGeom prst="rect">
            <a:avLst/>
          </a:prstGeom>
          <a:noFill/>
        </p:spPr>
        <p:txBody>
          <a:bodyPr wrap="square" rtlCol="0"/>
          <a:lstStyle/>
          <a:p>
            <a:r>
              <a:rPr lang="en-US" sz="1150">
                <a:solidFill>
                  <a:srgbClr val="6B7280"/>
                </a:solidFill>
                <a:latin typeface="Arial"/>
              </a:rPr>
              <a:t>FoodIntel AI | BITSoM PM Capstone | Final Submission</a:t>
            </a:r>
            <a:endParaRPr lang="en-US" sz="11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5237</Words>
  <Application>Microsoft Macintosh PowerPoint</Application>
  <PresentationFormat>Custom</PresentationFormat>
  <Paragraphs>459</Paragraphs>
  <Slides>79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79</vt:i4>
      </vt:variant>
    </vt:vector>
  </HeadingPairs>
  <TitlesOfParts>
    <vt:vector size="7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Sumanth Jayaram</cp:lastModifiedBy>
  <cp:revision>1</cp:revision>
  <dcterms:modified xsi:type="dcterms:W3CDTF">2026-06-09T18:59:10Z</dcterms:modified>
</cp:coreProperties>
</file>